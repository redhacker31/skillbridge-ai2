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'Good morning/afternoon, judges and fellow hackers. Today, I am proud to present SkillBridge AI—an AI-powered Resume Intelligence and Career Guidance Platform. Our goal is to bridge the massive gap between academic coursework and practical industry expectations by providing local, immediate, and privacy-centric career guidance. Let's start by looking at the core problem we set out to solve.'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'Job seekers face three primary barriers. First, resumes are filtered out by automated ATS screeners. Second, candidates receive rejections without any feedback on their skill gaps. And third, generic advice forces candidates to follow static, repetitive learning paths. SkillBridge AI solves these challenges by providing transparency and clear direction.'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'SkillBridge AI provides a local, privacy-centric alternative. The candidate uploads a resume PDF, the local engine extracts text, and spaCy splits it into semantic sections. We compare findings against career profiles, calculate score metrics, and build a targeted roadmap with zero data shared with third-party APIs.'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'Here are the four key features. First, our local hybrid parser extracts text reliably. Second, our semantic analyzer categorizes skills and handles abbreviations. Third, we provide explainable ATS scoring to highlight structural changes needed. Finally, the recommendation engine maps out a learning roadmap for the candidate.'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'Here is the system architecture. The React frontend communicates with the FastAPI backend via asynchronous REST requests. To keep the API responsive, the server uses background tasks for resume analysis, allowing the frontend to poll for status. Results are stored in the database.'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'Our technology choices are made to optimize development speed, local execution, and hosting costs. React and Tailwind CSS power the frontend client, FastAPI manages backend routing, and spaCy handles local NLP analysis. This stack provides a fast, developer-friendly experience.'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'Here is the NLP pipeline. We start with PDF text extraction. Next, the section detector partitions the text. We then extract contact details, run skill normalization, and calculate dynamic scores. By handling these steps sequentially, the application delivers structured results quickly.'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'Here is a mockup of the user dashboard. On the left, users see their compatibility scores. On the right, the interface displays their recommended learning pathway, featuring structured phases, courses, and projects tailored to address their specific skill gaps.'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'The application is deployed using automated CI/CD pipelines. Pushing changes to GitHub triggers builds on Vercel for the frontend and Render for the backend. Render hosts the Python service, which connects to a PostgreSQL database to store persistent analysis results.'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'Our future roadmap focuses on building a complete preparation ecosystem. This includes generating custom interview questions based on user profiles, automating cover letters, integrating live job boards, and providing a custom portal to manage the requirements database.'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'SkillBridge AI benefits both candidates and educators. Students get actionable resume feedback, and job seekers receive transparent guidelines to improve their ATS scores. By running all processing locally, we ensure complete data privacy for user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'Thank you for your time. SkillBridge AI provides a privacy-first, local solution to help job seekers analyze resumes, identify skill gaps, and follow clear learning pathways. We are ready to answer any questions you may have.'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92C"/>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415A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332720" cy="2011680"/>
          </a:xfrm>
          <a:prstGeom prst="rect">
            <a:avLst/>
          </a:prstGeom>
          <a:noFill/>
        </p:spPr>
        <p:txBody>
          <a:bodyPr wrap="square">
            <a:spAutoFit/>
          </a:bodyPr>
          <a:lstStyle/>
          <a:p>
            <a:pPr>
              <a:defRPr sz="5600" b="1">
                <a:solidFill>
                  <a:srgbClr val="FFFFFF"/>
                </a:solidFill>
                <a:latin typeface="Arial"/>
              </a:defRPr>
            </a:pPr>
            <a:r>
              <a:t>SKILLBRIDGE AI</a:t>
            </a:r>
          </a:p>
          <a:p>
            <a:pPr>
              <a:spcBef>
                <a:spcPts val="1000"/>
              </a:spcBef>
              <a:defRPr sz="2200">
                <a:solidFill>
                  <a:srgbClr val="8DA9C4"/>
                </a:solidFill>
                <a:latin typeface="Arial"/>
              </a:defRPr>
            </a:pPr>
            <a:r>
              <a:t>AI-Powered Resume Intelligence &amp; Career Guidance Platform</a:t>
            </a:r>
          </a:p>
        </p:txBody>
      </p:sp>
      <p:sp>
        <p:nvSpPr>
          <p:cNvPr id="4" name="TextBox 3"/>
          <p:cNvSpPr txBox="1"/>
          <p:nvPr/>
        </p:nvSpPr>
        <p:spPr>
          <a:xfrm>
            <a:off x="914400" y="4114800"/>
            <a:ext cx="10332720" cy="1828800"/>
          </a:xfrm>
          <a:prstGeom prst="rect">
            <a:avLst/>
          </a:prstGeom>
          <a:noFill/>
        </p:spPr>
        <p:txBody>
          <a:bodyPr wrap="square">
            <a:spAutoFit/>
          </a:bodyPr>
          <a:lstStyle/>
          <a:p/>
          <a:p>
            <a:pPr>
              <a:spcAft>
                <a:spcPts val="400"/>
              </a:spcAft>
              <a:defRPr sz="1300">
                <a:solidFill>
                  <a:srgbClr val="8DA9C4"/>
                </a:solidFill>
                <a:latin typeface="Arial"/>
              </a:defRPr>
            </a:pPr>
            <a:r>
              <a:t>Team Name: </a:t>
            </a:r>
            <a:r>
              <a:rPr b="1">
                <a:solidFill>
                  <a:srgbClr val="FFFFFF"/>
                </a:solidFill>
              </a:rPr>
              <a:t>Innovators Guild</a:t>
            </a:r>
          </a:p>
          <a:p>
            <a:pPr>
              <a:spcAft>
                <a:spcPts val="400"/>
              </a:spcAft>
              <a:defRPr sz="1300">
                <a:solidFill>
                  <a:srgbClr val="8DA9C4"/>
                </a:solidFill>
                <a:latin typeface="Arial"/>
              </a:defRPr>
            </a:pPr>
            <a:r>
              <a:t>Developed for: </a:t>
            </a:r>
            <a:r>
              <a:rPr b="1">
                <a:solidFill>
                  <a:srgbClr val="FFFFFF"/>
                </a:solidFill>
              </a:rPr>
              <a:t>Hackathon Final Evaluation</a:t>
            </a:r>
          </a:p>
          <a:p>
            <a:pPr>
              <a:spcAft>
                <a:spcPts val="400"/>
              </a:spcAft>
              <a:defRPr sz="1300">
                <a:solidFill>
                  <a:srgbClr val="8DA9C4"/>
                </a:solidFill>
                <a:latin typeface="Arial"/>
              </a:defRPr>
            </a:pPr>
            <a:r>
              <a:t>Affiliation: </a:t>
            </a:r>
            <a:r>
              <a:rPr b="1">
                <a:solidFill>
                  <a:srgbClr val="FFFFFF"/>
                </a:solidFill>
              </a:rPr>
              <a:t>Department of Computer Science &amp; Engineering</a:t>
            </a:r>
          </a:p>
          <a:p>
            <a:pPr>
              <a:spcAft>
                <a:spcPts val="400"/>
              </a:spcAft>
              <a:defRPr sz="1300">
                <a:solidFill>
                  <a:srgbClr val="8DA9C4"/>
                </a:solidFill>
                <a:latin typeface="Arial"/>
              </a:defRPr>
            </a:pPr>
            <a:r>
              <a:t>Deployment: </a:t>
            </a:r>
            <a:r>
              <a:rPr b="1">
                <a:solidFill>
                  <a:srgbClr val="FFFFFF"/>
                </a:solidFill>
              </a:rPr>
              <a:t>Client: Vercel | Server: Render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65760"/>
            <a:ext cx="10817352" cy="365760"/>
          </a:xfrm>
          <a:prstGeom prst="rect">
            <a:avLst/>
          </a:prstGeom>
          <a:noFill/>
        </p:spPr>
        <p:txBody>
          <a:bodyPr wrap="square">
            <a:spAutoFit/>
          </a:bodyPr>
          <a:lstStyle/>
          <a:p>
            <a:pPr>
              <a:defRPr sz="1000" b="1">
                <a:solidFill>
                  <a:srgbClr val="415A77"/>
                </a:solidFill>
                <a:latin typeface="Arial"/>
              </a:defRPr>
            </a:pPr>
            <a:r>
              <a:t>SKILLBRIDGE AI</a:t>
            </a:r>
          </a:p>
        </p:txBody>
      </p:sp>
      <p:sp>
        <p:nvSpPr>
          <p:cNvPr id="3" name="TextBox 2"/>
          <p:cNvSpPr txBox="1"/>
          <p:nvPr/>
        </p:nvSpPr>
        <p:spPr>
          <a:xfrm>
            <a:off x="685800" y="640080"/>
            <a:ext cx="10817352" cy="731520"/>
          </a:xfrm>
          <a:prstGeom prst="rect">
            <a:avLst/>
          </a:prstGeom>
          <a:noFill/>
        </p:spPr>
        <p:txBody>
          <a:bodyPr wrap="square">
            <a:spAutoFit/>
          </a:bodyPr>
          <a:lstStyle/>
          <a:p>
            <a:pPr>
              <a:defRPr sz="2800" b="1">
                <a:solidFill>
                  <a:srgbClr val="0B192C"/>
                </a:solidFill>
                <a:latin typeface="Arial"/>
              </a:defRPr>
            </a:pPr>
            <a:r>
              <a:t>The Career Preparation Disconnect</a:t>
            </a:r>
          </a:p>
        </p:txBody>
      </p:sp>
      <p:sp>
        <p:nvSpPr>
          <p:cNvPr id="4" name="Rounded Rectangle 3"/>
          <p:cNvSpPr/>
          <p:nvPr/>
        </p:nvSpPr>
        <p:spPr>
          <a:xfrm>
            <a:off x="685800" y="1828800"/>
            <a:ext cx="3291840" cy="3840480"/>
          </a:xfrm>
          <a:prstGeom prst="roundRect">
            <a:avLst/>
          </a:prstGeom>
          <a:solidFill>
            <a:srgbClr val="E0E6F0"/>
          </a:solidFill>
          <a:ln w="19050">
            <a:solidFill>
              <a:srgbClr val="415A77"/>
            </a:solidFill>
          </a:ln>
        </p:spPr>
        <p:style>
          <a:lnRef idx="1">
            <a:schemeClr val="accent1"/>
          </a:lnRef>
          <a:fillRef idx="3">
            <a:schemeClr val="accent1"/>
          </a:fillRef>
          <a:effectRef idx="2">
            <a:schemeClr val="accent1"/>
          </a:effectRef>
          <a:fontRef idx="minor">
            <a:schemeClr val="lt1"/>
          </a:fontRef>
        </p:style>
        <p:txBody>
          <a:bodyPr rtlCol="0" anchor="ctr" wrap="square" tIns="274320" lIns="274320" rIns="274320"/>
          <a:lstStyle/>
          <a:p>
            <a:pPr algn="ctr">
              <a:spcAft>
                <a:spcPts val="1000"/>
              </a:spcAft>
              <a:defRPr sz="2800" b="1">
                <a:solidFill>
                  <a:srgbClr val="415A77"/>
                </a:solidFill>
                <a:latin typeface="Arial"/>
              </a:defRPr>
            </a:pPr>
            <a:r>
              <a:t>01</a:t>
            </a:r>
          </a:p>
          <a:p>
            <a:pPr>
              <a:spcAft>
                <a:spcPts val="800"/>
              </a:spcAft>
              <a:defRPr sz="1800" b="1">
                <a:solidFill>
                  <a:srgbClr val="0B192C"/>
                </a:solidFill>
                <a:latin typeface="Arial"/>
              </a:defRPr>
            </a:pPr>
            <a:r>
              <a:t>Opaque Screeners (ATS)</a:t>
            </a:r>
          </a:p>
          <a:p>
            <a:pPr>
              <a:lnSpc>
                <a:spcPct val="120000"/>
              </a:lnSpc>
              <a:defRPr sz="1300">
                <a:solidFill>
                  <a:srgbClr val="505050"/>
                </a:solidFill>
                <a:latin typeface="Arial"/>
              </a:defRPr>
            </a:pPr>
            <a:r>
              <a:t>75% of resumes are automatically filtered out by Applicant Tracking Systems before a human ever reads them, often due to strict parsing criteria and complex layouts.</a:t>
            </a:r>
          </a:p>
        </p:txBody>
      </p:sp>
      <p:sp>
        <p:nvSpPr>
          <p:cNvPr id="5" name="Rounded Rectangle 4"/>
          <p:cNvSpPr/>
          <p:nvPr/>
        </p:nvSpPr>
        <p:spPr>
          <a:xfrm>
            <a:off x="4434840" y="1828800"/>
            <a:ext cx="3291840" cy="3840480"/>
          </a:xfrm>
          <a:prstGeom prst="roundRect">
            <a:avLst/>
          </a:prstGeom>
          <a:solidFill>
            <a:srgbClr val="E0E6F0"/>
          </a:solidFill>
          <a:ln w="19050">
            <a:solidFill>
              <a:srgbClr val="415A77"/>
            </a:solidFill>
          </a:ln>
        </p:spPr>
        <p:style>
          <a:lnRef idx="1">
            <a:schemeClr val="accent1"/>
          </a:lnRef>
          <a:fillRef idx="3">
            <a:schemeClr val="accent1"/>
          </a:fillRef>
          <a:effectRef idx="2">
            <a:schemeClr val="accent1"/>
          </a:effectRef>
          <a:fontRef idx="minor">
            <a:schemeClr val="lt1"/>
          </a:fontRef>
        </p:style>
        <p:txBody>
          <a:bodyPr rtlCol="0" anchor="ctr" wrap="square" tIns="274320" lIns="274320" rIns="274320"/>
          <a:lstStyle/>
          <a:p>
            <a:pPr algn="ctr">
              <a:spcAft>
                <a:spcPts val="1000"/>
              </a:spcAft>
              <a:defRPr sz="2800" b="1">
                <a:solidFill>
                  <a:srgbClr val="415A77"/>
                </a:solidFill>
                <a:latin typeface="Arial"/>
              </a:defRPr>
            </a:pPr>
            <a:r>
              <a:t>02</a:t>
            </a:r>
          </a:p>
          <a:p>
            <a:pPr>
              <a:spcAft>
                <a:spcPts val="800"/>
              </a:spcAft>
              <a:defRPr sz="1800" b="1">
                <a:solidFill>
                  <a:srgbClr val="0B192C"/>
                </a:solidFill>
                <a:latin typeface="Arial"/>
              </a:defRPr>
            </a:pPr>
            <a:r>
              <a:t>Critical Skill Gaps</a:t>
            </a:r>
          </a:p>
          <a:p>
            <a:pPr>
              <a:lnSpc>
                <a:spcPct val="120000"/>
              </a:lnSpc>
              <a:defRPr sz="1300">
                <a:solidFill>
                  <a:srgbClr val="505050"/>
                </a:solidFill>
                <a:latin typeface="Arial"/>
              </a:defRPr>
            </a:pPr>
            <a:r>
              <a:t>Job seekers do not know which specific technical or soft skills they are missing relative to their target career roles, leading to repetitive rejections.</a:t>
            </a:r>
          </a:p>
        </p:txBody>
      </p:sp>
      <p:sp>
        <p:nvSpPr>
          <p:cNvPr id="6" name="Rounded Rectangle 5"/>
          <p:cNvSpPr/>
          <p:nvPr/>
        </p:nvSpPr>
        <p:spPr>
          <a:xfrm>
            <a:off x="8183880" y="1828800"/>
            <a:ext cx="3291840" cy="3840480"/>
          </a:xfrm>
          <a:prstGeom prst="roundRect">
            <a:avLst/>
          </a:prstGeom>
          <a:solidFill>
            <a:srgbClr val="E0E6F0"/>
          </a:solidFill>
          <a:ln w="19050">
            <a:solidFill>
              <a:srgbClr val="415A77"/>
            </a:solidFill>
          </a:ln>
        </p:spPr>
        <p:style>
          <a:lnRef idx="1">
            <a:schemeClr val="accent1"/>
          </a:lnRef>
          <a:fillRef idx="3">
            <a:schemeClr val="accent1"/>
          </a:fillRef>
          <a:effectRef idx="2">
            <a:schemeClr val="accent1"/>
          </a:effectRef>
          <a:fontRef idx="minor">
            <a:schemeClr val="lt1"/>
          </a:fontRef>
        </p:style>
        <p:txBody>
          <a:bodyPr rtlCol="0" anchor="ctr" wrap="square" tIns="274320" lIns="274320" rIns="274320"/>
          <a:lstStyle/>
          <a:p>
            <a:pPr algn="ctr">
              <a:spcAft>
                <a:spcPts val="1000"/>
              </a:spcAft>
              <a:defRPr sz="2800" b="1">
                <a:solidFill>
                  <a:srgbClr val="415A77"/>
                </a:solidFill>
                <a:latin typeface="Arial"/>
              </a:defRPr>
            </a:pPr>
            <a:r>
              <a:t>03</a:t>
            </a:r>
          </a:p>
          <a:p>
            <a:pPr>
              <a:spcAft>
                <a:spcPts val="800"/>
              </a:spcAft>
              <a:defRPr sz="1800" b="1">
                <a:solidFill>
                  <a:srgbClr val="0B192C"/>
                </a:solidFill>
                <a:latin typeface="Arial"/>
              </a:defRPr>
            </a:pPr>
            <a:r>
              <a:t>Static Learning Advice</a:t>
            </a:r>
          </a:p>
          <a:p>
            <a:pPr>
              <a:lnSpc>
                <a:spcPct val="120000"/>
              </a:lnSpc>
              <a:defRPr sz="1300">
                <a:solidFill>
                  <a:srgbClr val="505050"/>
                </a:solidFill>
                <a:latin typeface="Arial"/>
              </a:defRPr>
            </a:pPr>
            <a:r>
              <a:t>Generic resource links and generic courses do not account for a user's existing project strengths, leading to inefficient career preparation pathways.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65760"/>
            <a:ext cx="10817352" cy="365760"/>
          </a:xfrm>
          <a:prstGeom prst="rect">
            <a:avLst/>
          </a:prstGeom>
          <a:noFill/>
        </p:spPr>
        <p:txBody>
          <a:bodyPr wrap="square">
            <a:spAutoFit/>
          </a:bodyPr>
          <a:lstStyle/>
          <a:p>
            <a:pPr>
              <a:defRPr sz="1000" b="1">
                <a:solidFill>
                  <a:srgbClr val="415A77"/>
                </a:solidFill>
                <a:latin typeface="Arial"/>
              </a:defRPr>
            </a:pPr>
            <a:r>
              <a:t>SKILLBRIDGE AI</a:t>
            </a:r>
          </a:p>
        </p:txBody>
      </p:sp>
      <p:sp>
        <p:nvSpPr>
          <p:cNvPr id="3" name="TextBox 2"/>
          <p:cNvSpPr txBox="1"/>
          <p:nvPr/>
        </p:nvSpPr>
        <p:spPr>
          <a:xfrm>
            <a:off x="685800" y="640080"/>
            <a:ext cx="10817352" cy="731520"/>
          </a:xfrm>
          <a:prstGeom prst="rect">
            <a:avLst/>
          </a:prstGeom>
          <a:noFill/>
        </p:spPr>
        <p:txBody>
          <a:bodyPr wrap="square">
            <a:spAutoFit/>
          </a:bodyPr>
          <a:lstStyle/>
          <a:p>
            <a:pPr>
              <a:defRPr sz="2800" b="1">
                <a:solidFill>
                  <a:srgbClr val="0B192C"/>
                </a:solidFill>
                <a:latin typeface="Arial"/>
              </a:defRPr>
            </a:pPr>
            <a:r>
              <a:t>The Solution: Local &amp; Personalized Mentoring</a:t>
            </a:r>
          </a:p>
        </p:txBody>
      </p:sp>
      <p:sp>
        <p:nvSpPr>
          <p:cNvPr id="4" name="TextBox 3"/>
          <p:cNvSpPr txBox="1"/>
          <p:nvPr/>
        </p:nvSpPr>
        <p:spPr>
          <a:xfrm>
            <a:off x="685800" y="1463040"/>
            <a:ext cx="10817352" cy="731520"/>
          </a:xfrm>
          <a:prstGeom prst="rect">
            <a:avLst/>
          </a:prstGeom>
          <a:noFill/>
        </p:spPr>
        <p:txBody>
          <a:bodyPr wrap="square">
            <a:spAutoFit/>
          </a:bodyPr>
          <a:lstStyle/>
          <a:p>
            <a:pPr>
              <a:defRPr sz="1800">
                <a:solidFill>
                  <a:srgbClr val="415A77"/>
                </a:solidFill>
                <a:latin typeface="Arial"/>
              </a:defRPr>
            </a:pPr>
            <a:r>
              <a:t>SkillBridge AI provides automated, local, and privacy-first resume analysis.</a:t>
            </a:r>
          </a:p>
        </p:txBody>
      </p:sp>
      <p:sp>
        <p:nvSpPr>
          <p:cNvPr id="5" name="Rounded Rectangle 4"/>
          <p:cNvSpPr/>
          <p:nvPr/>
        </p:nvSpPr>
        <p:spPr>
          <a:xfrm>
            <a:off x="685800" y="2560320"/>
            <a:ext cx="1920240" cy="2926080"/>
          </a:xfrm>
          <a:prstGeom prst="roundRect">
            <a:avLst/>
          </a:prstGeom>
          <a:solidFill>
            <a:srgbClr val="E0E6F0"/>
          </a:solidFill>
          <a:ln>
            <a:solidFill>
              <a:srgbClr val="415A77"/>
            </a:solidFill>
          </a:ln>
        </p:spPr>
        <p:style>
          <a:lnRef idx="1">
            <a:schemeClr val="accent1"/>
          </a:lnRef>
          <a:fillRef idx="3">
            <a:schemeClr val="accent1"/>
          </a:fillRef>
          <a:effectRef idx="2">
            <a:schemeClr val="accent1"/>
          </a:effectRef>
          <a:fontRef idx="minor">
            <a:schemeClr val="lt1"/>
          </a:fontRef>
        </p:style>
        <p:txBody>
          <a:bodyPr rtlCol="0" anchor="ctr" wrap="square" tIns="182880" lIns="137160" rIns="137160"/>
          <a:lstStyle/>
          <a:p>
            <a:pPr algn="ctr">
              <a:spcAft>
                <a:spcPts val="1200"/>
              </a:spcAft>
              <a:defRPr sz="1500" b="1">
                <a:solidFill>
                  <a:srgbClr val="0B192C"/>
                </a:solidFill>
                <a:latin typeface="Arial"/>
              </a:defRPr>
            </a:pPr>
            <a:r>
              <a:t>1. PDF Upload</a:t>
            </a:r>
          </a:p>
          <a:p>
            <a:pPr algn="ctr">
              <a:defRPr sz="1200">
                <a:solidFill>
                  <a:srgbClr val="505050"/>
                </a:solidFill>
                <a:latin typeface="Arial"/>
              </a:defRPr>
            </a:pPr>
            <a:r>
              <a:t>Secure local PDF parsing</a:t>
            </a:r>
          </a:p>
        </p:txBody>
      </p:sp>
      <p:sp>
        <p:nvSpPr>
          <p:cNvPr id="6" name="Right Arrow 5"/>
          <p:cNvSpPr/>
          <p:nvPr/>
        </p:nvSpPr>
        <p:spPr>
          <a:xfrm>
            <a:off x="2651760" y="3840480"/>
            <a:ext cx="182880" cy="365760"/>
          </a:xfrm>
          <a:prstGeom prst="rightArrow">
            <a:avLst/>
          </a:prstGeom>
          <a:solidFill>
            <a:srgbClr val="415A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880360" y="2560320"/>
            <a:ext cx="1920240" cy="2926080"/>
          </a:xfrm>
          <a:prstGeom prst="roundRect">
            <a:avLst/>
          </a:prstGeom>
          <a:solidFill>
            <a:srgbClr val="E0E6F0"/>
          </a:solidFill>
          <a:ln>
            <a:solidFill>
              <a:srgbClr val="415A77"/>
            </a:solidFill>
          </a:ln>
        </p:spPr>
        <p:style>
          <a:lnRef idx="1">
            <a:schemeClr val="accent1"/>
          </a:lnRef>
          <a:fillRef idx="3">
            <a:schemeClr val="accent1"/>
          </a:fillRef>
          <a:effectRef idx="2">
            <a:schemeClr val="accent1"/>
          </a:effectRef>
          <a:fontRef idx="minor">
            <a:schemeClr val="lt1"/>
          </a:fontRef>
        </p:style>
        <p:txBody>
          <a:bodyPr rtlCol="0" anchor="ctr" wrap="square" tIns="182880" lIns="137160" rIns="137160"/>
          <a:lstStyle/>
          <a:p>
            <a:pPr algn="ctr">
              <a:spcAft>
                <a:spcPts val="1200"/>
              </a:spcAft>
              <a:defRPr sz="1500" b="1">
                <a:solidFill>
                  <a:srgbClr val="0B192C"/>
                </a:solidFill>
                <a:latin typeface="Arial"/>
              </a:defRPr>
            </a:pPr>
            <a:r>
              <a:t>2. NLP Extraction</a:t>
            </a:r>
          </a:p>
          <a:p>
            <a:pPr algn="ctr">
              <a:defRPr sz="1200">
                <a:solidFill>
                  <a:srgbClr val="505050"/>
                </a:solidFill>
                <a:latin typeface="Arial"/>
              </a:defRPr>
            </a:pPr>
            <a:r>
              <a:t>spaCy &amp; Regex analysis</a:t>
            </a:r>
          </a:p>
        </p:txBody>
      </p:sp>
      <p:sp>
        <p:nvSpPr>
          <p:cNvPr id="8" name="Right Arrow 7"/>
          <p:cNvSpPr/>
          <p:nvPr/>
        </p:nvSpPr>
        <p:spPr>
          <a:xfrm>
            <a:off x="4846320" y="3840480"/>
            <a:ext cx="182880" cy="365760"/>
          </a:xfrm>
          <a:prstGeom prst="rightArrow">
            <a:avLst/>
          </a:prstGeom>
          <a:solidFill>
            <a:srgbClr val="415A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074920" y="2560320"/>
            <a:ext cx="1920240" cy="2926080"/>
          </a:xfrm>
          <a:prstGeom prst="roundRect">
            <a:avLst/>
          </a:prstGeom>
          <a:solidFill>
            <a:srgbClr val="E0E6F0"/>
          </a:solidFill>
          <a:ln>
            <a:solidFill>
              <a:srgbClr val="415A77"/>
            </a:solidFill>
          </a:ln>
        </p:spPr>
        <p:style>
          <a:lnRef idx="1">
            <a:schemeClr val="accent1"/>
          </a:lnRef>
          <a:fillRef idx="3">
            <a:schemeClr val="accent1"/>
          </a:fillRef>
          <a:effectRef idx="2">
            <a:schemeClr val="accent1"/>
          </a:effectRef>
          <a:fontRef idx="minor">
            <a:schemeClr val="lt1"/>
          </a:fontRef>
        </p:style>
        <p:txBody>
          <a:bodyPr rtlCol="0" anchor="ctr" wrap="square" tIns="182880" lIns="137160" rIns="137160"/>
          <a:lstStyle/>
          <a:p>
            <a:pPr algn="ctr">
              <a:spcAft>
                <a:spcPts val="1200"/>
              </a:spcAft>
              <a:defRPr sz="1500" b="1">
                <a:solidFill>
                  <a:srgbClr val="0B192C"/>
                </a:solidFill>
                <a:latin typeface="Arial"/>
              </a:defRPr>
            </a:pPr>
            <a:r>
              <a:t>3. Skill Gap</a:t>
            </a:r>
          </a:p>
          <a:p>
            <a:pPr algn="ctr">
              <a:defRPr sz="1200">
                <a:solidFill>
                  <a:srgbClr val="505050"/>
                </a:solidFill>
                <a:latin typeface="Arial"/>
              </a:defRPr>
            </a:pPr>
            <a:r>
              <a:t>Compare target profiles</a:t>
            </a:r>
          </a:p>
        </p:txBody>
      </p:sp>
      <p:sp>
        <p:nvSpPr>
          <p:cNvPr id="10" name="Right Arrow 9"/>
          <p:cNvSpPr/>
          <p:nvPr/>
        </p:nvSpPr>
        <p:spPr>
          <a:xfrm>
            <a:off x="7040880" y="3840480"/>
            <a:ext cx="182880" cy="365760"/>
          </a:xfrm>
          <a:prstGeom prst="rightArrow">
            <a:avLst/>
          </a:prstGeom>
          <a:solidFill>
            <a:srgbClr val="415A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269480" y="2560320"/>
            <a:ext cx="1920240" cy="2926080"/>
          </a:xfrm>
          <a:prstGeom prst="roundRect">
            <a:avLst/>
          </a:prstGeom>
          <a:solidFill>
            <a:srgbClr val="E0E6F0"/>
          </a:solidFill>
          <a:ln>
            <a:solidFill>
              <a:srgbClr val="415A77"/>
            </a:solidFill>
          </a:ln>
        </p:spPr>
        <p:style>
          <a:lnRef idx="1">
            <a:schemeClr val="accent1"/>
          </a:lnRef>
          <a:fillRef idx="3">
            <a:schemeClr val="accent1"/>
          </a:fillRef>
          <a:effectRef idx="2">
            <a:schemeClr val="accent1"/>
          </a:effectRef>
          <a:fontRef idx="minor">
            <a:schemeClr val="lt1"/>
          </a:fontRef>
        </p:style>
        <p:txBody>
          <a:bodyPr rtlCol="0" anchor="ctr" wrap="square" tIns="182880" lIns="137160" rIns="137160"/>
          <a:lstStyle/>
          <a:p>
            <a:pPr algn="ctr">
              <a:spcAft>
                <a:spcPts val="1200"/>
              </a:spcAft>
              <a:defRPr sz="1500" b="1">
                <a:solidFill>
                  <a:srgbClr val="0B192C"/>
                </a:solidFill>
                <a:latin typeface="Arial"/>
              </a:defRPr>
            </a:pPr>
            <a:r>
              <a:t>4. ATS Scoring</a:t>
            </a:r>
          </a:p>
          <a:p>
            <a:pPr algn="ctr">
              <a:defRPr sz="1200">
                <a:solidFill>
                  <a:srgbClr val="505050"/>
                </a:solidFill>
                <a:latin typeface="Arial"/>
              </a:defRPr>
            </a:pPr>
            <a:r>
              <a:t>Keyword match breakdown</a:t>
            </a:r>
          </a:p>
        </p:txBody>
      </p:sp>
      <p:sp>
        <p:nvSpPr>
          <p:cNvPr id="12" name="Right Arrow 11"/>
          <p:cNvSpPr/>
          <p:nvPr/>
        </p:nvSpPr>
        <p:spPr>
          <a:xfrm>
            <a:off x="9235440" y="3840480"/>
            <a:ext cx="182880" cy="365760"/>
          </a:xfrm>
          <a:prstGeom prst="rightArrow">
            <a:avLst/>
          </a:prstGeom>
          <a:solidFill>
            <a:srgbClr val="415A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464040" y="2560320"/>
            <a:ext cx="1920240" cy="2926080"/>
          </a:xfrm>
          <a:prstGeom prst="roundRect">
            <a:avLst/>
          </a:prstGeom>
          <a:solidFill>
            <a:srgbClr val="E0E6F0"/>
          </a:solidFill>
          <a:ln>
            <a:solidFill>
              <a:srgbClr val="415A77"/>
            </a:solidFill>
          </a:ln>
        </p:spPr>
        <p:style>
          <a:lnRef idx="1">
            <a:schemeClr val="accent1"/>
          </a:lnRef>
          <a:fillRef idx="3">
            <a:schemeClr val="accent1"/>
          </a:fillRef>
          <a:effectRef idx="2">
            <a:schemeClr val="accent1"/>
          </a:effectRef>
          <a:fontRef idx="minor">
            <a:schemeClr val="lt1"/>
          </a:fontRef>
        </p:style>
        <p:txBody>
          <a:bodyPr rtlCol="0" anchor="ctr" wrap="square" tIns="182880" lIns="137160" rIns="137160"/>
          <a:lstStyle/>
          <a:p>
            <a:pPr algn="ctr">
              <a:spcAft>
                <a:spcPts val="1200"/>
              </a:spcAft>
              <a:defRPr sz="1500" b="1">
                <a:solidFill>
                  <a:srgbClr val="0B192C"/>
                </a:solidFill>
                <a:latin typeface="Arial"/>
              </a:defRPr>
            </a:pPr>
            <a:r>
              <a:t>5. Interactive Path</a:t>
            </a:r>
          </a:p>
          <a:p>
            <a:pPr algn="ctr">
              <a:defRPr sz="1200">
                <a:solidFill>
                  <a:srgbClr val="505050"/>
                </a:solidFill>
                <a:latin typeface="Arial"/>
              </a:defRPr>
            </a:pPr>
            <a:r>
              <a:t>Courses &amp; custom projects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65760"/>
            <a:ext cx="10817352" cy="365760"/>
          </a:xfrm>
          <a:prstGeom prst="rect">
            <a:avLst/>
          </a:prstGeom>
          <a:noFill/>
        </p:spPr>
        <p:txBody>
          <a:bodyPr wrap="square">
            <a:spAutoFit/>
          </a:bodyPr>
          <a:lstStyle/>
          <a:p>
            <a:pPr>
              <a:defRPr sz="1000" b="1">
                <a:solidFill>
                  <a:srgbClr val="415A77"/>
                </a:solidFill>
                <a:latin typeface="Arial"/>
              </a:defRPr>
            </a:pPr>
            <a:r>
              <a:t>SKILLBRIDGE AI</a:t>
            </a:r>
          </a:p>
        </p:txBody>
      </p:sp>
      <p:sp>
        <p:nvSpPr>
          <p:cNvPr id="3" name="TextBox 2"/>
          <p:cNvSpPr txBox="1"/>
          <p:nvPr/>
        </p:nvSpPr>
        <p:spPr>
          <a:xfrm>
            <a:off x="685800" y="640080"/>
            <a:ext cx="10817352" cy="731520"/>
          </a:xfrm>
          <a:prstGeom prst="rect">
            <a:avLst/>
          </a:prstGeom>
          <a:noFill/>
        </p:spPr>
        <p:txBody>
          <a:bodyPr wrap="square">
            <a:spAutoFit/>
          </a:bodyPr>
          <a:lstStyle/>
          <a:p>
            <a:pPr>
              <a:defRPr sz="2800" b="1">
                <a:solidFill>
                  <a:srgbClr val="0B192C"/>
                </a:solidFill>
                <a:latin typeface="Arial"/>
              </a:defRPr>
            </a:pPr>
            <a:r>
              <a:t>Core Application Capabilities</a:t>
            </a:r>
          </a:p>
        </p:txBody>
      </p:sp>
      <p:sp>
        <p:nvSpPr>
          <p:cNvPr id="4" name="Rounded Rectangle 3"/>
          <p:cNvSpPr/>
          <p:nvPr/>
        </p:nvSpPr>
        <p:spPr>
          <a:xfrm>
            <a:off x="685800" y="1645920"/>
            <a:ext cx="5120640" cy="1920240"/>
          </a:xfrm>
          <a:prstGeom prst="roundRect">
            <a:avLst/>
          </a:prstGeom>
          <a:solidFill>
            <a:srgbClr val="E0E6F0"/>
          </a:solidFill>
          <a:ln>
            <a:solidFill>
              <a:srgbClr val="8DA9C4"/>
            </a:solidFill>
          </a:ln>
        </p:spPr>
        <p:style>
          <a:lnRef idx="1">
            <a:schemeClr val="accent1"/>
          </a:lnRef>
          <a:fillRef idx="3">
            <a:schemeClr val="accent1"/>
          </a:fillRef>
          <a:effectRef idx="2">
            <a:schemeClr val="accent1"/>
          </a:effectRef>
          <a:fontRef idx="minor">
            <a:schemeClr val="lt1"/>
          </a:fontRef>
        </p:style>
        <p:txBody>
          <a:bodyPr rtlCol="0" anchor="ctr" wrap="square" tIns="182880" lIns="228600" rIns="228600"/>
          <a:lstStyle/>
          <a:p>
            <a:pPr algn="ctr">
              <a:spcAft>
                <a:spcPts val="600"/>
              </a:spcAft>
              <a:defRPr sz="1600" b="1">
                <a:solidFill>
                  <a:srgbClr val="0B192C"/>
                </a:solidFill>
                <a:latin typeface="Arial"/>
              </a:defRPr>
            </a:pPr>
            <a:r>
              <a:t>01. Local Hybrid PDF Parser</a:t>
            </a:r>
          </a:p>
          <a:p>
            <a:pPr>
              <a:lnSpc>
                <a:spcPct val="115000"/>
              </a:lnSpc>
              <a:defRPr sz="1200">
                <a:solidFill>
                  <a:srgbClr val="505050"/>
                </a:solidFill>
                <a:latin typeface="Arial"/>
              </a:defRPr>
            </a:pPr>
            <a:r>
              <a:t>Uses a PyMuPDF + pdfplumber hybrid pipeline. Successfully extracts structured text blocks from double-column tables and complex candidate resumes with zero latency.</a:t>
            </a:r>
          </a:p>
        </p:txBody>
      </p:sp>
      <p:sp>
        <p:nvSpPr>
          <p:cNvPr id="5" name="Rounded Rectangle 4"/>
          <p:cNvSpPr/>
          <p:nvPr/>
        </p:nvSpPr>
        <p:spPr>
          <a:xfrm>
            <a:off x="6309360" y="1645920"/>
            <a:ext cx="5120640" cy="1920240"/>
          </a:xfrm>
          <a:prstGeom prst="roundRect">
            <a:avLst/>
          </a:prstGeom>
          <a:solidFill>
            <a:srgbClr val="E0E6F0"/>
          </a:solidFill>
          <a:ln>
            <a:solidFill>
              <a:srgbClr val="8DA9C4"/>
            </a:solidFill>
          </a:ln>
        </p:spPr>
        <p:style>
          <a:lnRef idx="1">
            <a:schemeClr val="accent1"/>
          </a:lnRef>
          <a:fillRef idx="3">
            <a:schemeClr val="accent1"/>
          </a:fillRef>
          <a:effectRef idx="2">
            <a:schemeClr val="accent1"/>
          </a:effectRef>
          <a:fontRef idx="minor">
            <a:schemeClr val="lt1"/>
          </a:fontRef>
        </p:style>
        <p:txBody>
          <a:bodyPr rtlCol="0" anchor="ctr" wrap="square" tIns="182880" lIns="228600" rIns="228600"/>
          <a:lstStyle/>
          <a:p>
            <a:pPr algn="ctr">
              <a:spcAft>
                <a:spcPts val="600"/>
              </a:spcAft>
              <a:defRPr sz="1600" b="1">
                <a:solidFill>
                  <a:srgbClr val="0B192C"/>
                </a:solidFill>
                <a:latin typeface="Arial"/>
              </a:defRPr>
            </a:pPr>
            <a:r>
              <a:t>02. Semantic Skill Categorization</a:t>
            </a:r>
          </a:p>
          <a:p>
            <a:pPr>
              <a:lnSpc>
                <a:spcPct val="115000"/>
              </a:lnSpc>
              <a:defRPr sz="1200">
                <a:solidFill>
                  <a:srgbClr val="505050"/>
                </a:solidFill>
                <a:latin typeface="Arial"/>
              </a:defRPr>
            </a:pPr>
            <a:r>
              <a:t>Maps raw resume text against a pre-loaded vocabulary. Groups skills into Technical, Professional (Soft), and Domain areas, normalizing aliases.</a:t>
            </a:r>
          </a:p>
        </p:txBody>
      </p:sp>
      <p:sp>
        <p:nvSpPr>
          <p:cNvPr id="6" name="Rounded Rectangle 5"/>
          <p:cNvSpPr/>
          <p:nvPr/>
        </p:nvSpPr>
        <p:spPr>
          <a:xfrm>
            <a:off x="685800" y="3931920"/>
            <a:ext cx="5120640" cy="1920240"/>
          </a:xfrm>
          <a:prstGeom prst="roundRect">
            <a:avLst/>
          </a:prstGeom>
          <a:solidFill>
            <a:srgbClr val="E0E6F0"/>
          </a:solidFill>
          <a:ln>
            <a:solidFill>
              <a:srgbClr val="8DA9C4"/>
            </a:solidFill>
          </a:ln>
        </p:spPr>
        <p:style>
          <a:lnRef idx="1">
            <a:schemeClr val="accent1"/>
          </a:lnRef>
          <a:fillRef idx="3">
            <a:schemeClr val="accent1"/>
          </a:fillRef>
          <a:effectRef idx="2">
            <a:schemeClr val="accent1"/>
          </a:effectRef>
          <a:fontRef idx="minor">
            <a:schemeClr val="lt1"/>
          </a:fontRef>
        </p:style>
        <p:txBody>
          <a:bodyPr rtlCol="0" anchor="ctr" wrap="square" tIns="182880" lIns="228600" rIns="228600"/>
          <a:lstStyle/>
          <a:p>
            <a:pPr algn="ctr">
              <a:spcAft>
                <a:spcPts val="600"/>
              </a:spcAft>
              <a:defRPr sz="1600" b="1">
                <a:solidFill>
                  <a:srgbClr val="0B192C"/>
                </a:solidFill>
                <a:latin typeface="Arial"/>
              </a:defRPr>
            </a:pPr>
            <a:r>
              <a:t>03. Explainable ATS Scoring</a:t>
            </a:r>
          </a:p>
          <a:p>
            <a:pPr>
              <a:lnSpc>
                <a:spcPct val="115000"/>
              </a:lnSpc>
              <a:defRPr sz="1200">
                <a:solidFill>
                  <a:srgbClr val="505050"/>
                </a:solidFill>
                <a:latin typeface="Arial"/>
              </a:defRPr>
            </a:pPr>
            <a:r>
              <a:t>Breaks down scores into specific structural checks (contact links, sections present, and content metrics), giving candidates clear items to improve.</a:t>
            </a:r>
          </a:p>
        </p:txBody>
      </p:sp>
      <p:sp>
        <p:nvSpPr>
          <p:cNvPr id="7" name="Rounded Rectangle 6"/>
          <p:cNvSpPr/>
          <p:nvPr/>
        </p:nvSpPr>
        <p:spPr>
          <a:xfrm>
            <a:off x="6309360" y="3931920"/>
            <a:ext cx="5120640" cy="1920240"/>
          </a:xfrm>
          <a:prstGeom prst="roundRect">
            <a:avLst/>
          </a:prstGeom>
          <a:solidFill>
            <a:srgbClr val="E0E6F0"/>
          </a:solidFill>
          <a:ln>
            <a:solidFill>
              <a:srgbClr val="8DA9C4"/>
            </a:solidFill>
          </a:ln>
        </p:spPr>
        <p:style>
          <a:lnRef idx="1">
            <a:schemeClr val="accent1"/>
          </a:lnRef>
          <a:fillRef idx="3">
            <a:schemeClr val="accent1"/>
          </a:fillRef>
          <a:effectRef idx="2">
            <a:schemeClr val="accent1"/>
          </a:effectRef>
          <a:fontRef idx="minor">
            <a:schemeClr val="lt1"/>
          </a:fontRef>
        </p:style>
        <p:txBody>
          <a:bodyPr rtlCol="0" anchor="ctr" wrap="square" tIns="182880" lIns="228600" rIns="228600"/>
          <a:lstStyle/>
          <a:p>
            <a:pPr algn="ctr">
              <a:spcAft>
                <a:spcPts val="600"/>
              </a:spcAft>
              <a:defRPr sz="1600" b="1">
                <a:solidFill>
                  <a:srgbClr val="0B192C"/>
                </a:solidFill>
                <a:latin typeface="Arial"/>
              </a:defRPr>
            </a:pPr>
            <a:r>
              <a:t>04. Dynamic Roadmap Generator</a:t>
            </a:r>
          </a:p>
          <a:p>
            <a:pPr>
              <a:lnSpc>
                <a:spcPct val="115000"/>
              </a:lnSpc>
              <a:defRPr sz="1200">
                <a:solidFill>
                  <a:srgbClr val="505050"/>
                </a:solidFill>
                <a:latin typeface="Arial"/>
              </a:defRPr>
            </a:pPr>
            <a:r>
              <a:t>Creates structured, step-by-step career roadmaps complete with estimated timelines, recommended online courses, and relevant projects.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65760"/>
            <a:ext cx="10817352" cy="365760"/>
          </a:xfrm>
          <a:prstGeom prst="rect">
            <a:avLst/>
          </a:prstGeom>
          <a:noFill/>
        </p:spPr>
        <p:txBody>
          <a:bodyPr wrap="square">
            <a:spAutoFit/>
          </a:bodyPr>
          <a:lstStyle/>
          <a:p>
            <a:pPr>
              <a:defRPr sz="1000" b="1">
                <a:solidFill>
                  <a:srgbClr val="415A77"/>
                </a:solidFill>
                <a:latin typeface="Arial"/>
              </a:defRPr>
            </a:pPr>
            <a:r>
              <a:t>SKILLBRIDGE AI</a:t>
            </a:r>
          </a:p>
        </p:txBody>
      </p:sp>
      <p:sp>
        <p:nvSpPr>
          <p:cNvPr id="3" name="TextBox 2"/>
          <p:cNvSpPr txBox="1"/>
          <p:nvPr/>
        </p:nvSpPr>
        <p:spPr>
          <a:xfrm>
            <a:off x="685800" y="640080"/>
            <a:ext cx="10817352" cy="731520"/>
          </a:xfrm>
          <a:prstGeom prst="rect">
            <a:avLst/>
          </a:prstGeom>
          <a:noFill/>
        </p:spPr>
        <p:txBody>
          <a:bodyPr wrap="square">
            <a:spAutoFit/>
          </a:bodyPr>
          <a:lstStyle/>
          <a:p>
            <a:pPr>
              <a:defRPr sz="2800" b="1">
                <a:solidFill>
                  <a:srgbClr val="0B192C"/>
                </a:solidFill>
                <a:latin typeface="Arial"/>
              </a:defRPr>
            </a:pPr>
            <a:r>
              <a:t>Decoupled Local Architecture</a:t>
            </a:r>
          </a:p>
        </p:txBody>
      </p:sp>
      <p:sp>
        <p:nvSpPr>
          <p:cNvPr id="4" name="Rectangle 3"/>
          <p:cNvSpPr/>
          <p:nvPr/>
        </p:nvSpPr>
        <p:spPr>
          <a:xfrm>
            <a:off x="685800" y="1828800"/>
            <a:ext cx="2468880" cy="4114800"/>
          </a:xfrm>
          <a:prstGeom prst="rect">
            <a:avLst/>
          </a:prstGeom>
          <a:solidFill>
            <a:srgbClr val="E0E6F0"/>
          </a:solidFill>
          <a:ln w="19050">
            <a:solidFill>
              <a:srgbClr val="415A77"/>
            </a:solidFill>
          </a:ln>
        </p:spPr>
        <p:style>
          <a:lnRef idx="1">
            <a:schemeClr val="accent1"/>
          </a:lnRef>
          <a:fillRef idx="3">
            <a:schemeClr val="accent1"/>
          </a:fillRef>
          <a:effectRef idx="2">
            <a:schemeClr val="accent1"/>
          </a:effectRef>
          <a:fontRef idx="minor">
            <a:schemeClr val="lt1"/>
          </a:fontRef>
        </p:style>
        <p:txBody>
          <a:bodyPr rtlCol="0" anchor="ctr" wrap="square" tIns="274320" lIns="182880" rIns="182880"/>
          <a:lstStyle/>
          <a:p>
            <a:pPr algn="ctr">
              <a:spcAft>
                <a:spcPts val="1400"/>
              </a:spcAft>
              <a:defRPr sz="1800" b="1">
                <a:solidFill>
                  <a:srgbClr val="0B192C"/>
                </a:solidFill>
                <a:latin typeface="Arial"/>
              </a:defRPr>
            </a:pPr>
            <a:r>
              <a:t>React Client</a:t>
            </a:r>
          </a:p>
          <a:p>
            <a:pPr>
              <a:lnSpc>
                <a:spcPct val="130000"/>
              </a:lnSpc>
              <a:spcAft>
                <a:spcPts val="2000"/>
              </a:spcAft>
              <a:defRPr sz="1100">
                <a:solidFill>
                  <a:srgbClr val="505050"/>
                </a:solidFill>
                <a:latin typeface="Arial"/>
              </a:defRPr>
            </a:pPr>
            <a:r>
              <a:t>Vite + TypeScript SPA</a:t>
            </a:r>
            <a:br/>
            <a:r>
              <a:t>- Drag-and-drop file upload</a:t>
            </a:r>
            <a:br/>
            <a:r>
              <a:t>- Responsive charts</a:t>
            </a:r>
            <a:br/>
            <a:r>
              <a:t>- Status polling loops</a:t>
            </a:r>
            <a:br/>
            <a:r>
              <a:t>- JWT session storage</a:t>
            </a:r>
          </a:p>
          <a:p>
            <a:pPr>
              <a:defRPr sz="1100" b="1">
                <a:solidFill>
                  <a:srgbClr val="415A77"/>
                </a:solidFill>
                <a:latin typeface="Arial"/>
              </a:defRPr>
            </a:pPr>
            <a:r>
              <a:t>📍 Vercel Hosting</a:t>
            </a:r>
          </a:p>
        </p:txBody>
      </p:sp>
      <p:sp>
        <p:nvSpPr>
          <p:cNvPr id="5" name="Right Arrow 4"/>
          <p:cNvSpPr/>
          <p:nvPr/>
        </p:nvSpPr>
        <p:spPr>
          <a:xfrm>
            <a:off x="3200400" y="3749040"/>
            <a:ext cx="182880" cy="274320"/>
          </a:xfrm>
          <a:prstGeom prst="rightArrow">
            <a:avLst/>
          </a:prstGeom>
          <a:solidFill>
            <a:srgbClr val="8DA9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29000" y="1828800"/>
            <a:ext cx="2468880" cy="4114800"/>
          </a:xfrm>
          <a:prstGeom prst="rect">
            <a:avLst/>
          </a:prstGeom>
          <a:solidFill>
            <a:srgbClr val="E0E6F0"/>
          </a:solidFill>
          <a:ln w="19050">
            <a:solidFill>
              <a:srgbClr val="415A77"/>
            </a:solidFill>
          </a:ln>
        </p:spPr>
        <p:style>
          <a:lnRef idx="1">
            <a:schemeClr val="accent1"/>
          </a:lnRef>
          <a:fillRef idx="3">
            <a:schemeClr val="accent1"/>
          </a:fillRef>
          <a:effectRef idx="2">
            <a:schemeClr val="accent1"/>
          </a:effectRef>
          <a:fontRef idx="minor">
            <a:schemeClr val="lt1"/>
          </a:fontRef>
        </p:style>
        <p:txBody>
          <a:bodyPr rtlCol="0" anchor="ctr" wrap="square" tIns="274320" lIns="182880" rIns="182880"/>
          <a:lstStyle/>
          <a:p>
            <a:pPr algn="ctr">
              <a:spcAft>
                <a:spcPts val="1400"/>
              </a:spcAft>
              <a:defRPr sz="1800" b="1">
                <a:solidFill>
                  <a:srgbClr val="0B192C"/>
                </a:solidFill>
                <a:latin typeface="Arial"/>
              </a:defRPr>
            </a:pPr>
            <a:r>
              <a:t>FastAPI Gateway</a:t>
            </a:r>
          </a:p>
          <a:p>
            <a:pPr>
              <a:lnSpc>
                <a:spcPct val="130000"/>
              </a:lnSpc>
              <a:spcAft>
                <a:spcPts val="2000"/>
              </a:spcAft>
              <a:defRPr sz="1100">
                <a:solidFill>
                  <a:srgbClr val="505050"/>
                </a:solidFill>
                <a:latin typeface="Arial"/>
              </a:defRPr>
            </a:pPr>
            <a:r>
              <a:t>Python Asynchronous Server</a:t>
            </a:r>
            <a:br/>
            <a:r>
              <a:t>- REST API endpoints</a:t>
            </a:r>
            <a:br/>
            <a:r>
              <a:t>- PyDantic data schemas</a:t>
            </a:r>
            <a:br/>
            <a:r>
              <a:t>- Background task queue</a:t>
            </a:r>
            <a:br/>
            <a:r>
              <a:t>- Secure routing layers</a:t>
            </a:r>
          </a:p>
          <a:p>
            <a:pPr>
              <a:defRPr sz="1100" b="1">
                <a:solidFill>
                  <a:srgbClr val="415A77"/>
                </a:solidFill>
                <a:latin typeface="Arial"/>
              </a:defRPr>
            </a:pPr>
            <a:r>
              <a:t>📍 Render Hosting</a:t>
            </a:r>
          </a:p>
        </p:txBody>
      </p:sp>
      <p:sp>
        <p:nvSpPr>
          <p:cNvPr id="7" name="Right Arrow 6"/>
          <p:cNvSpPr/>
          <p:nvPr/>
        </p:nvSpPr>
        <p:spPr>
          <a:xfrm>
            <a:off x="5943600" y="3749040"/>
            <a:ext cx="182880" cy="274320"/>
          </a:xfrm>
          <a:prstGeom prst="rightArrow">
            <a:avLst/>
          </a:prstGeom>
          <a:solidFill>
            <a:srgbClr val="8DA9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172200" y="1828800"/>
            <a:ext cx="2468880" cy="4114800"/>
          </a:xfrm>
          <a:prstGeom prst="rect">
            <a:avLst/>
          </a:prstGeom>
          <a:solidFill>
            <a:srgbClr val="E0E6F0"/>
          </a:solidFill>
          <a:ln w="19050">
            <a:solidFill>
              <a:srgbClr val="415A77"/>
            </a:solidFill>
          </a:ln>
        </p:spPr>
        <p:style>
          <a:lnRef idx="1">
            <a:schemeClr val="accent1"/>
          </a:lnRef>
          <a:fillRef idx="3">
            <a:schemeClr val="accent1"/>
          </a:fillRef>
          <a:effectRef idx="2">
            <a:schemeClr val="accent1"/>
          </a:effectRef>
          <a:fontRef idx="minor">
            <a:schemeClr val="lt1"/>
          </a:fontRef>
        </p:style>
        <p:txBody>
          <a:bodyPr rtlCol="0" anchor="ctr" wrap="square" tIns="274320" lIns="182880" rIns="182880"/>
          <a:lstStyle/>
          <a:p>
            <a:pPr algn="ctr">
              <a:spcAft>
                <a:spcPts val="1400"/>
              </a:spcAft>
              <a:defRPr sz="1800" b="1">
                <a:solidFill>
                  <a:srgbClr val="0B192C"/>
                </a:solidFill>
                <a:latin typeface="Arial"/>
              </a:defRPr>
            </a:pPr>
            <a:r>
              <a:t>Heuristic NLP Engine</a:t>
            </a:r>
          </a:p>
          <a:p>
            <a:pPr>
              <a:lnSpc>
                <a:spcPct val="130000"/>
              </a:lnSpc>
              <a:spcAft>
                <a:spcPts val="2000"/>
              </a:spcAft>
              <a:defRPr sz="1100">
                <a:solidFill>
                  <a:srgbClr val="505050"/>
                </a:solidFill>
                <a:latin typeface="Arial"/>
              </a:defRPr>
            </a:pPr>
            <a:r>
              <a:t>Local Analyzer Modules</a:t>
            </a:r>
            <a:br/>
            <a:r>
              <a:t>- PyMuPDF text extractor</a:t>
            </a:r>
            <a:br/>
            <a:r>
              <a:t>- spaCy NER tagger</a:t>
            </a:r>
            <a:br/>
            <a:r>
              <a:t>- Skill database matcher</a:t>
            </a:r>
            <a:br/>
            <a:r>
              <a:t>- ATS scoring heuristics</a:t>
            </a:r>
          </a:p>
          <a:p>
            <a:pPr>
              <a:defRPr sz="1100" b="1">
                <a:solidFill>
                  <a:srgbClr val="415A77"/>
                </a:solidFill>
                <a:latin typeface="Arial"/>
              </a:defRPr>
            </a:pPr>
            <a:r>
              <a:t>📍 Server CPU Exec</a:t>
            </a:r>
          </a:p>
        </p:txBody>
      </p:sp>
      <p:sp>
        <p:nvSpPr>
          <p:cNvPr id="9" name="Right Arrow 8"/>
          <p:cNvSpPr/>
          <p:nvPr/>
        </p:nvSpPr>
        <p:spPr>
          <a:xfrm>
            <a:off x="8686800" y="3749040"/>
            <a:ext cx="182880" cy="274320"/>
          </a:xfrm>
          <a:prstGeom prst="rightArrow">
            <a:avLst/>
          </a:prstGeom>
          <a:solidFill>
            <a:srgbClr val="8DA9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915400" y="1828800"/>
            <a:ext cx="2468880" cy="4114800"/>
          </a:xfrm>
          <a:prstGeom prst="rect">
            <a:avLst/>
          </a:prstGeom>
          <a:solidFill>
            <a:srgbClr val="E0E6F0"/>
          </a:solidFill>
          <a:ln w="19050">
            <a:solidFill>
              <a:srgbClr val="415A77"/>
            </a:solidFill>
          </a:ln>
        </p:spPr>
        <p:style>
          <a:lnRef idx="1">
            <a:schemeClr val="accent1"/>
          </a:lnRef>
          <a:fillRef idx="3">
            <a:schemeClr val="accent1"/>
          </a:fillRef>
          <a:effectRef idx="2">
            <a:schemeClr val="accent1"/>
          </a:effectRef>
          <a:fontRef idx="minor">
            <a:schemeClr val="lt1"/>
          </a:fontRef>
        </p:style>
        <p:txBody>
          <a:bodyPr rtlCol="0" anchor="ctr" wrap="square" tIns="274320" lIns="182880" rIns="182880"/>
          <a:lstStyle/>
          <a:p>
            <a:pPr algn="ctr">
              <a:spcAft>
                <a:spcPts val="1400"/>
              </a:spcAft>
              <a:defRPr sz="1800" b="1">
                <a:solidFill>
                  <a:srgbClr val="0B192C"/>
                </a:solidFill>
                <a:latin typeface="Arial"/>
              </a:defRPr>
            </a:pPr>
            <a:r>
              <a:t>Database Engine</a:t>
            </a:r>
          </a:p>
          <a:p>
            <a:pPr>
              <a:lnSpc>
                <a:spcPct val="130000"/>
              </a:lnSpc>
              <a:spcAft>
                <a:spcPts val="2000"/>
              </a:spcAft>
              <a:defRPr sz="1100">
                <a:solidFill>
                  <a:srgbClr val="505050"/>
                </a:solidFill>
                <a:latin typeface="Arial"/>
              </a:defRPr>
            </a:pPr>
            <a:r>
              <a:t>SQLite (Local Dev)</a:t>
            </a:r>
            <a:br/>
            <a:r>
              <a:t>PostgreSQL (Prod)</a:t>
            </a:r>
            <a:br/>
            <a:r>
              <a:t>- Relational DB schema</a:t>
            </a:r>
            <a:br/>
            <a:r>
              <a:t>- User accounts data</a:t>
            </a:r>
            <a:br/>
            <a:r>
              <a:t>- Parsing metadata</a:t>
            </a:r>
            <a:br/>
            <a:r>
              <a:t>- JSON reports logs</a:t>
            </a:r>
          </a:p>
          <a:p>
            <a:pPr>
              <a:defRPr sz="1100" b="1">
                <a:solidFill>
                  <a:srgbClr val="415A77"/>
                </a:solidFill>
                <a:latin typeface="Arial"/>
              </a:defRPr>
            </a:pPr>
            <a:r>
              <a:t>📍 Managed Database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65760"/>
            <a:ext cx="10817352" cy="365760"/>
          </a:xfrm>
          <a:prstGeom prst="rect">
            <a:avLst/>
          </a:prstGeom>
          <a:noFill/>
        </p:spPr>
        <p:txBody>
          <a:bodyPr wrap="square">
            <a:spAutoFit/>
          </a:bodyPr>
          <a:lstStyle/>
          <a:p>
            <a:pPr>
              <a:defRPr sz="1000" b="1">
                <a:solidFill>
                  <a:srgbClr val="415A77"/>
                </a:solidFill>
                <a:latin typeface="Arial"/>
              </a:defRPr>
            </a:pPr>
            <a:r>
              <a:t>SKILLBRIDGE AI</a:t>
            </a:r>
          </a:p>
        </p:txBody>
      </p:sp>
      <p:sp>
        <p:nvSpPr>
          <p:cNvPr id="3" name="TextBox 2"/>
          <p:cNvSpPr txBox="1"/>
          <p:nvPr/>
        </p:nvSpPr>
        <p:spPr>
          <a:xfrm>
            <a:off x="685800" y="640080"/>
            <a:ext cx="10817352" cy="731520"/>
          </a:xfrm>
          <a:prstGeom prst="rect">
            <a:avLst/>
          </a:prstGeom>
          <a:noFill/>
        </p:spPr>
        <p:txBody>
          <a:bodyPr wrap="square">
            <a:spAutoFit/>
          </a:bodyPr>
          <a:lstStyle/>
          <a:p>
            <a:pPr>
              <a:defRPr sz="2800" b="1">
                <a:solidFill>
                  <a:srgbClr val="0B192C"/>
                </a:solidFill>
                <a:latin typeface="Arial"/>
              </a:defRPr>
            </a:pPr>
            <a:r>
              <a:t>Leveraging Modern &amp; Open Technologies</a:t>
            </a:r>
          </a:p>
        </p:txBody>
      </p:sp>
      <p:graphicFrame>
        <p:nvGraphicFramePr>
          <p:cNvPr id="4" name="Table 3"/>
          <p:cNvGraphicFramePr>
            <a:graphicFrameLocks noGrp="1"/>
          </p:cNvGraphicFramePr>
          <p:nvPr/>
        </p:nvGraphicFramePr>
        <p:xfrm>
          <a:off x="685800" y="1645920"/>
          <a:ext cx="10817352" cy="4114800"/>
        </p:xfrm>
        <a:graphic>
          <a:graphicData uri="http://schemas.openxmlformats.org/drawingml/2006/table">
            <a:tbl>
              <a:tblPr firstRow="1" bandRow="1">
                <a:tableStyleId>{5C22544A-7EE6-4342-B048-85BDC9FD1C3A}</a:tableStyleId>
              </a:tblPr>
              <a:tblGrid>
                <a:gridCol w="2286000"/>
                <a:gridCol w="3200400"/>
                <a:gridCol w="5330952"/>
              </a:tblGrid>
              <a:tr h="685800">
                <a:tc>
                  <a:txBody>
                    <a:bodyPr/>
                    <a:lstStyle/>
                    <a:p>
                      <a:pPr algn="l">
                        <a:defRPr sz="1300" b="1">
                          <a:solidFill>
                            <a:srgbClr val="FFFFFF"/>
                          </a:solidFill>
                          <a:latin typeface="Arial"/>
                        </a:defRPr>
                      </a:pPr>
                      <a:r>
                        <a:t>LAYER</a:t>
                      </a:r>
                    </a:p>
                  </a:txBody>
                  <a:tcPr>
                    <a:solidFill>
                      <a:srgbClr val="0B192C"/>
                    </a:solidFill>
                  </a:tcPr>
                </a:tc>
                <a:tc>
                  <a:txBody>
                    <a:bodyPr/>
                    <a:lstStyle/>
                    <a:p>
                      <a:pPr algn="l">
                        <a:defRPr sz="1300" b="1">
                          <a:solidFill>
                            <a:srgbClr val="FFFFFF"/>
                          </a:solidFill>
                          <a:latin typeface="Arial"/>
                        </a:defRPr>
                      </a:pPr>
                      <a:r>
                        <a:t>TECHNOLOGY SELECTION</a:t>
                      </a:r>
                    </a:p>
                  </a:txBody>
                  <a:tcPr>
                    <a:solidFill>
                      <a:srgbClr val="0B192C"/>
                    </a:solidFill>
                  </a:tcPr>
                </a:tc>
                <a:tc>
                  <a:txBody>
                    <a:bodyPr/>
                    <a:lstStyle/>
                    <a:p>
                      <a:pPr algn="l">
                        <a:defRPr sz="1300" b="1">
                          <a:solidFill>
                            <a:srgbClr val="FFFFFF"/>
                          </a:solidFill>
                          <a:latin typeface="Arial"/>
                        </a:defRPr>
                      </a:pPr>
                      <a:r>
                        <a:t>JUSTIFICATION &amp; ROLE</a:t>
                      </a:r>
                    </a:p>
                  </a:txBody>
                  <a:tcPr>
                    <a:solidFill>
                      <a:srgbClr val="0B192C"/>
                    </a:solidFill>
                  </a:tcPr>
                </a:tc>
              </a:tr>
              <a:tr h="685800">
                <a:tc>
                  <a:txBody>
                    <a:bodyPr/>
                    <a:lstStyle/>
                    <a:p>
                      <a:pPr>
                        <a:defRPr sz="1200" b="1">
                          <a:solidFill>
                            <a:srgbClr val="0B192C"/>
                          </a:solidFill>
                          <a:latin typeface="Arial"/>
                        </a:defRPr>
                      </a:pPr>
                      <a:r>
                        <a:t>Frontend Client</a:t>
                      </a:r>
                    </a:p>
                  </a:txBody>
                  <a:tcPr>
                    <a:solidFill>
                      <a:srgbClr val="E0E6F0"/>
                    </a:solidFill>
                  </a:tcPr>
                </a:tc>
                <a:tc>
                  <a:txBody>
                    <a:bodyPr/>
                    <a:lstStyle/>
                    <a:p>
                      <a:pPr>
                        <a:defRPr sz="1200">
                          <a:solidFill>
                            <a:srgbClr val="0B192C"/>
                          </a:solidFill>
                          <a:latin typeface="Arial"/>
                        </a:defRPr>
                      </a:pPr>
                      <a:r>
                        <a:t>React, TypeScript, Vite, Tailwind CSS</a:t>
                      </a:r>
                    </a:p>
                  </a:txBody>
                  <a:tcPr>
                    <a:solidFill>
                      <a:srgbClr val="E0E6F0"/>
                    </a:solidFill>
                  </a:tcPr>
                </a:tc>
                <a:tc>
                  <a:txBody>
                    <a:bodyPr/>
                    <a:lstStyle/>
                    <a:p>
                      <a:pPr>
                        <a:defRPr sz="1200">
                          <a:solidFill>
                            <a:srgbClr val="505050"/>
                          </a:solidFill>
                          <a:latin typeface="Arial"/>
                        </a:defRPr>
                      </a:pPr>
                      <a:r>
                        <a:t>Ensures high performance, clean visual rendering, strict type-safety, and responsive dashboards.</a:t>
                      </a:r>
                    </a:p>
                  </a:txBody>
                  <a:tcPr>
                    <a:solidFill>
                      <a:srgbClr val="E0E6F0"/>
                    </a:solidFill>
                  </a:tcPr>
                </a:tc>
              </a:tr>
              <a:tr h="685800">
                <a:tc>
                  <a:txBody>
                    <a:bodyPr/>
                    <a:lstStyle/>
                    <a:p>
                      <a:pPr>
                        <a:defRPr sz="1200" b="1">
                          <a:solidFill>
                            <a:srgbClr val="0B192C"/>
                          </a:solidFill>
                          <a:latin typeface="Arial"/>
                        </a:defRPr>
                      </a:pPr>
                      <a:r>
                        <a:t>Backend Server</a:t>
                      </a:r>
                    </a:p>
                  </a:txBody>
                  <a:tcPr>
                    <a:solidFill>
                      <a:srgbClr val="FFFFFF"/>
                    </a:solidFill>
                  </a:tcPr>
                </a:tc>
                <a:tc>
                  <a:txBody>
                    <a:bodyPr/>
                    <a:lstStyle/>
                    <a:p>
                      <a:pPr>
                        <a:defRPr sz="1200">
                          <a:solidFill>
                            <a:srgbClr val="0B192C"/>
                          </a:solidFill>
                          <a:latin typeface="Arial"/>
                        </a:defRPr>
                      </a:pPr>
                      <a:r>
                        <a:t>FastAPI (Python), PyDantic</a:t>
                      </a:r>
                    </a:p>
                  </a:txBody>
                  <a:tcPr>
                    <a:solidFill>
                      <a:srgbClr val="FFFFFF"/>
                    </a:solidFill>
                  </a:tcPr>
                </a:tc>
                <a:tc>
                  <a:txBody>
                    <a:bodyPr/>
                    <a:lstStyle/>
                    <a:p>
                      <a:pPr>
                        <a:defRPr sz="1200">
                          <a:solidFill>
                            <a:srgbClr val="505050"/>
                          </a:solidFill>
                          <a:latin typeface="Arial"/>
                        </a:defRPr>
                      </a:pPr>
                      <a:r>
                        <a:t>Provides fast async request handling, auto-generated docs, and input validation schemas.</a:t>
                      </a:r>
                    </a:p>
                  </a:txBody>
                  <a:tcPr>
                    <a:solidFill>
                      <a:srgbClr val="FFFFFF"/>
                    </a:solidFill>
                  </a:tcPr>
                </a:tc>
              </a:tr>
              <a:tr h="685800">
                <a:tc>
                  <a:txBody>
                    <a:bodyPr/>
                    <a:lstStyle/>
                    <a:p>
                      <a:pPr>
                        <a:defRPr sz="1200" b="1">
                          <a:solidFill>
                            <a:srgbClr val="0B192C"/>
                          </a:solidFill>
                          <a:latin typeface="Arial"/>
                        </a:defRPr>
                      </a:pPr>
                      <a:r>
                        <a:t>Database Engine</a:t>
                      </a:r>
                    </a:p>
                  </a:txBody>
                  <a:tcPr>
                    <a:solidFill>
                      <a:srgbClr val="E0E6F0"/>
                    </a:solidFill>
                  </a:tcPr>
                </a:tc>
                <a:tc>
                  <a:txBody>
                    <a:bodyPr/>
                    <a:lstStyle/>
                    <a:p>
                      <a:pPr>
                        <a:defRPr sz="1200">
                          <a:solidFill>
                            <a:srgbClr val="0B192C"/>
                          </a:solidFill>
                          <a:latin typeface="Arial"/>
                        </a:defRPr>
                      </a:pPr>
                      <a:r>
                        <a:t>PostgreSQL (SQLite locally)</a:t>
                      </a:r>
                    </a:p>
                  </a:txBody>
                  <a:tcPr>
                    <a:solidFill>
                      <a:srgbClr val="E0E6F0"/>
                    </a:solidFill>
                  </a:tcPr>
                </a:tc>
                <a:tc>
                  <a:txBody>
                    <a:bodyPr/>
                    <a:lstStyle/>
                    <a:p>
                      <a:pPr>
                        <a:defRPr sz="1200">
                          <a:solidFill>
                            <a:srgbClr val="505050"/>
                          </a:solidFill>
                          <a:latin typeface="Arial"/>
                        </a:defRPr>
                      </a:pPr>
                      <a:r>
                        <a:t>Enables reliable data mapping, relational tables, and JSON schema storage for report archives.</a:t>
                      </a:r>
                    </a:p>
                  </a:txBody>
                  <a:tcPr>
                    <a:solidFill>
                      <a:srgbClr val="E0E6F0"/>
                    </a:solidFill>
                  </a:tcPr>
                </a:tc>
              </a:tr>
              <a:tr h="685800">
                <a:tc>
                  <a:txBody>
                    <a:bodyPr/>
                    <a:lstStyle/>
                    <a:p>
                      <a:pPr>
                        <a:defRPr sz="1200" b="1">
                          <a:solidFill>
                            <a:srgbClr val="0B192C"/>
                          </a:solidFill>
                          <a:latin typeface="Arial"/>
                        </a:defRPr>
                      </a:pPr>
                      <a:r>
                        <a:t>Natural Language AI</a:t>
                      </a:r>
                    </a:p>
                  </a:txBody>
                  <a:tcPr>
                    <a:solidFill>
                      <a:srgbClr val="FFFFFF"/>
                    </a:solidFill>
                  </a:tcPr>
                </a:tc>
                <a:tc>
                  <a:txBody>
                    <a:bodyPr/>
                    <a:lstStyle/>
                    <a:p>
                      <a:pPr>
                        <a:defRPr sz="1200">
                          <a:solidFill>
                            <a:srgbClr val="0B192C"/>
                          </a:solidFill>
                          <a:latin typeface="Arial"/>
                        </a:defRPr>
                      </a:pPr>
                      <a:r>
                        <a:t>spaCy, Sentence-Transformers</a:t>
                      </a:r>
                    </a:p>
                  </a:txBody>
                  <a:tcPr>
                    <a:solidFill>
                      <a:srgbClr val="FFFFFF"/>
                    </a:solidFill>
                  </a:tcPr>
                </a:tc>
                <a:tc>
                  <a:txBody>
                    <a:bodyPr/>
                    <a:lstStyle/>
                    <a:p>
                      <a:pPr>
                        <a:defRPr sz="1200">
                          <a:solidFill>
                            <a:srgbClr val="505050"/>
                          </a:solidFill>
                          <a:latin typeface="Arial"/>
                        </a:defRPr>
                      </a:pPr>
                      <a:r>
                        <a:t>Runs NER entity mapping and semantic skill matching completely locally on the server.</a:t>
                      </a:r>
                    </a:p>
                  </a:txBody>
                  <a:tcPr>
                    <a:solidFill>
                      <a:srgbClr val="FFFFFF"/>
                    </a:solidFill>
                  </a:tcPr>
                </a:tc>
              </a:tr>
              <a:tr h="685800">
                <a:tc>
                  <a:txBody>
                    <a:bodyPr/>
                    <a:lstStyle/>
                    <a:p>
                      <a:pPr>
                        <a:defRPr sz="1200" b="1">
                          <a:solidFill>
                            <a:srgbClr val="0B192C"/>
                          </a:solidFill>
                          <a:latin typeface="Arial"/>
                        </a:defRPr>
                      </a:pPr>
                      <a:r>
                        <a:t>Cloud Infrastructure</a:t>
                      </a:r>
                    </a:p>
                  </a:txBody>
                  <a:tcPr>
                    <a:solidFill>
                      <a:srgbClr val="E0E6F0"/>
                    </a:solidFill>
                  </a:tcPr>
                </a:tc>
                <a:tc>
                  <a:txBody>
                    <a:bodyPr/>
                    <a:lstStyle/>
                    <a:p>
                      <a:pPr>
                        <a:defRPr sz="1200">
                          <a:solidFill>
                            <a:srgbClr val="0B192C"/>
                          </a:solidFill>
                          <a:latin typeface="Arial"/>
                        </a:defRPr>
                      </a:pPr>
                      <a:r>
                        <a:t>GitHub, Render, Vercel</a:t>
                      </a:r>
                    </a:p>
                  </a:txBody>
                  <a:tcPr>
                    <a:solidFill>
                      <a:srgbClr val="E0E6F0"/>
                    </a:solidFill>
                  </a:tcPr>
                </a:tc>
                <a:tc>
                  <a:txBody>
                    <a:bodyPr/>
                    <a:lstStyle/>
                    <a:p>
                      <a:pPr>
                        <a:defRPr sz="1200">
                          <a:solidFill>
                            <a:srgbClr val="505050"/>
                          </a:solidFill>
                          <a:latin typeface="Arial"/>
                        </a:defRPr>
                      </a:pPr>
                      <a:r>
                        <a:t>Enables rapid, automated deployment pipelines for client-side and server-side workloads.</a:t>
                      </a:r>
                    </a:p>
                  </a:txBody>
                  <a:tcPr>
                    <a:solidFill>
                      <a:srgbClr val="E0E6F0"/>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65760"/>
            <a:ext cx="10817352" cy="365760"/>
          </a:xfrm>
          <a:prstGeom prst="rect">
            <a:avLst/>
          </a:prstGeom>
          <a:noFill/>
        </p:spPr>
        <p:txBody>
          <a:bodyPr wrap="square">
            <a:spAutoFit/>
          </a:bodyPr>
          <a:lstStyle/>
          <a:p>
            <a:pPr>
              <a:defRPr sz="1000" b="1">
                <a:solidFill>
                  <a:srgbClr val="415A77"/>
                </a:solidFill>
                <a:latin typeface="Arial"/>
              </a:defRPr>
            </a:pPr>
            <a:r>
              <a:t>SKILLBRIDGE AI</a:t>
            </a:r>
          </a:p>
        </p:txBody>
      </p:sp>
      <p:sp>
        <p:nvSpPr>
          <p:cNvPr id="3" name="TextBox 2"/>
          <p:cNvSpPr txBox="1"/>
          <p:nvPr/>
        </p:nvSpPr>
        <p:spPr>
          <a:xfrm>
            <a:off x="685800" y="640080"/>
            <a:ext cx="10817352" cy="731520"/>
          </a:xfrm>
          <a:prstGeom prst="rect">
            <a:avLst/>
          </a:prstGeom>
          <a:noFill/>
        </p:spPr>
        <p:txBody>
          <a:bodyPr wrap="square">
            <a:spAutoFit/>
          </a:bodyPr>
          <a:lstStyle/>
          <a:p>
            <a:pPr>
              <a:defRPr sz="2800" b="1">
                <a:solidFill>
                  <a:srgbClr val="0B192C"/>
                </a:solidFill>
                <a:latin typeface="Arial"/>
              </a:defRPr>
            </a:pPr>
            <a:r>
              <a:t>The Local Parsing Heuristic Pipeline</a:t>
            </a:r>
          </a:p>
        </p:txBody>
      </p:sp>
      <p:sp>
        <p:nvSpPr>
          <p:cNvPr id="4" name="Rectangle 3"/>
          <p:cNvSpPr/>
          <p:nvPr/>
        </p:nvSpPr>
        <p:spPr>
          <a:xfrm>
            <a:off x="685800" y="1645920"/>
            <a:ext cx="10817352" cy="822960"/>
          </a:xfrm>
          <a:prstGeom prst="rect">
            <a:avLst/>
          </a:prstGeom>
          <a:solidFill>
            <a:srgbClr val="E0E6F0"/>
          </a:solidFill>
          <a:ln>
            <a:solidFill>
              <a:srgbClr val="8DA9C4"/>
            </a:solidFill>
          </a:ln>
        </p:spPr>
        <p:style>
          <a:lnRef idx="1">
            <a:schemeClr val="accent1"/>
          </a:lnRef>
          <a:fillRef idx="3">
            <a:schemeClr val="accent1"/>
          </a:fillRef>
          <a:effectRef idx="2">
            <a:schemeClr val="accent1"/>
          </a:effectRef>
          <a:fontRef idx="minor">
            <a:schemeClr val="lt1"/>
          </a:fontRef>
        </p:style>
        <p:txBody>
          <a:bodyPr rtlCol="0" anchor="ctr" wrap="square" tIns="137160" lIns="274320" rIns="274320"/>
          <a:lstStyle/>
          <a:p>
            <a:pPr algn="ctr">
              <a:defRPr sz="1250">
                <a:latin typeface="Arial"/>
              </a:defRPr>
            </a:pPr>
            <a:r>
              <a:rPr b="1">
                <a:solidFill>
                  <a:srgbClr val="415A77"/>
                </a:solidFill>
              </a:rPr>
              <a:t>STEP 01:  </a:t>
            </a:r>
            <a:r>
              <a:rPr b="1">
                <a:solidFill>
                  <a:srgbClr val="0B192C"/>
                </a:solidFill>
              </a:rPr>
              <a:t>PDF Document Stream   ➔   </a:t>
            </a:r>
            <a:r>
              <a:rPr>
                <a:solidFill>
                  <a:srgbClr val="505050"/>
                </a:solidFill>
              </a:rPr>
              <a:t>PyMuPDF opens files safely. Recognizes and resolves font mappings to output plain text blocks.</a:t>
            </a:r>
          </a:p>
        </p:txBody>
      </p:sp>
      <p:sp>
        <p:nvSpPr>
          <p:cNvPr id="5" name="Rectangle 4"/>
          <p:cNvSpPr/>
          <p:nvPr/>
        </p:nvSpPr>
        <p:spPr>
          <a:xfrm>
            <a:off x="685800" y="2633472"/>
            <a:ext cx="10817352" cy="822960"/>
          </a:xfrm>
          <a:prstGeom prst="rect">
            <a:avLst/>
          </a:prstGeom>
          <a:solidFill>
            <a:srgbClr val="E0E6F0"/>
          </a:solidFill>
          <a:ln>
            <a:solidFill>
              <a:srgbClr val="8DA9C4"/>
            </a:solidFill>
          </a:ln>
        </p:spPr>
        <p:style>
          <a:lnRef idx="1">
            <a:schemeClr val="accent1"/>
          </a:lnRef>
          <a:fillRef idx="3">
            <a:schemeClr val="accent1"/>
          </a:fillRef>
          <a:effectRef idx="2">
            <a:schemeClr val="accent1"/>
          </a:effectRef>
          <a:fontRef idx="minor">
            <a:schemeClr val="lt1"/>
          </a:fontRef>
        </p:style>
        <p:txBody>
          <a:bodyPr rtlCol="0" anchor="ctr" wrap="square" tIns="137160" lIns="274320" rIns="274320"/>
          <a:lstStyle/>
          <a:p>
            <a:pPr algn="ctr">
              <a:defRPr sz="1250">
                <a:latin typeface="Arial"/>
              </a:defRPr>
            </a:pPr>
            <a:r>
              <a:rPr b="1">
                <a:solidFill>
                  <a:srgbClr val="415A77"/>
                </a:solidFill>
              </a:rPr>
              <a:t>STEP 02:  </a:t>
            </a:r>
            <a:r>
              <a:rPr b="1">
                <a:solidFill>
                  <a:srgbClr val="0B192C"/>
                </a:solidFill>
              </a:rPr>
              <a:t>Section Detector   ➔   </a:t>
            </a:r>
            <a:r>
              <a:rPr>
                <a:solidFill>
                  <a:srgbClr val="505050"/>
                </a:solidFill>
              </a:rPr>
              <a:t>Scans text for headings (Education, Skills, Projects, Experience) using regex heuristics.</a:t>
            </a:r>
          </a:p>
        </p:txBody>
      </p:sp>
      <p:sp>
        <p:nvSpPr>
          <p:cNvPr id="6" name="Rectangle 5"/>
          <p:cNvSpPr/>
          <p:nvPr/>
        </p:nvSpPr>
        <p:spPr>
          <a:xfrm>
            <a:off x="685800" y="3621024"/>
            <a:ext cx="10817352" cy="822960"/>
          </a:xfrm>
          <a:prstGeom prst="rect">
            <a:avLst/>
          </a:prstGeom>
          <a:solidFill>
            <a:srgbClr val="E0E6F0"/>
          </a:solidFill>
          <a:ln>
            <a:solidFill>
              <a:srgbClr val="8DA9C4"/>
            </a:solidFill>
          </a:ln>
        </p:spPr>
        <p:style>
          <a:lnRef idx="1">
            <a:schemeClr val="accent1"/>
          </a:lnRef>
          <a:fillRef idx="3">
            <a:schemeClr val="accent1"/>
          </a:fillRef>
          <a:effectRef idx="2">
            <a:schemeClr val="accent1"/>
          </a:effectRef>
          <a:fontRef idx="minor">
            <a:schemeClr val="lt1"/>
          </a:fontRef>
        </p:style>
        <p:txBody>
          <a:bodyPr rtlCol="0" anchor="ctr" wrap="square" tIns="137160" lIns="274320" rIns="274320"/>
          <a:lstStyle/>
          <a:p>
            <a:pPr algn="ctr">
              <a:defRPr sz="1250">
                <a:latin typeface="Arial"/>
              </a:defRPr>
            </a:pPr>
            <a:r>
              <a:rPr b="1">
                <a:solidFill>
                  <a:srgbClr val="415A77"/>
                </a:solidFill>
              </a:rPr>
              <a:t>STEP 03:  </a:t>
            </a:r>
            <a:r>
              <a:rPr b="1">
                <a:solidFill>
                  <a:srgbClr val="0B192C"/>
                </a:solidFill>
              </a:rPr>
              <a:t>NER Contact Locator   ➔   </a:t>
            </a:r>
            <a:r>
              <a:rPr>
                <a:solidFill>
                  <a:srgbClr val="505050"/>
                </a:solidFill>
              </a:rPr>
              <a:t>Extracts personal details like email, phone numbers, and profile links from text headers.</a:t>
            </a:r>
          </a:p>
        </p:txBody>
      </p:sp>
      <p:sp>
        <p:nvSpPr>
          <p:cNvPr id="7" name="Rectangle 6"/>
          <p:cNvSpPr/>
          <p:nvPr/>
        </p:nvSpPr>
        <p:spPr>
          <a:xfrm>
            <a:off x="685800" y="4608576"/>
            <a:ext cx="10817352" cy="822960"/>
          </a:xfrm>
          <a:prstGeom prst="rect">
            <a:avLst/>
          </a:prstGeom>
          <a:solidFill>
            <a:srgbClr val="E0E6F0"/>
          </a:solidFill>
          <a:ln>
            <a:solidFill>
              <a:srgbClr val="8DA9C4"/>
            </a:solidFill>
          </a:ln>
        </p:spPr>
        <p:style>
          <a:lnRef idx="1">
            <a:schemeClr val="accent1"/>
          </a:lnRef>
          <a:fillRef idx="3">
            <a:schemeClr val="accent1"/>
          </a:fillRef>
          <a:effectRef idx="2">
            <a:schemeClr val="accent1"/>
          </a:effectRef>
          <a:fontRef idx="minor">
            <a:schemeClr val="lt1"/>
          </a:fontRef>
        </p:style>
        <p:txBody>
          <a:bodyPr rtlCol="0" anchor="ctr" wrap="square" tIns="137160" lIns="274320" rIns="274320"/>
          <a:lstStyle/>
          <a:p>
            <a:pPr algn="ctr">
              <a:defRPr sz="1250">
                <a:latin typeface="Arial"/>
              </a:defRPr>
            </a:pPr>
            <a:r>
              <a:rPr b="1">
                <a:solidFill>
                  <a:srgbClr val="415A77"/>
                </a:solidFill>
              </a:rPr>
              <a:t>STEP 04:  </a:t>
            </a:r>
            <a:r>
              <a:rPr b="1">
                <a:solidFill>
                  <a:srgbClr val="0B192C"/>
                </a:solidFill>
              </a:rPr>
              <a:t>Skill Extraction Engine   ➔   </a:t>
            </a:r>
            <a:r>
              <a:rPr>
                <a:solidFill>
                  <a:srgbClr val="505050"/>
                </a:solidFill>
              </a:rPr>
              <a:t>Maps extracted text to 200+ skills in the database, normalizing variations to canonical terms.</a:t>
            </a:r>
          </a:p>
        </p:txBody>
      </p:sp>
      <p:sp>
        <p:nvSpPr>
          <p:cNvPr id="8" name="Rectangle 7"/>
          <p:cNvSpPr/>
          <p:nvPr/>
        </p:nvSpPr>
        <p:spPr>
          <a:xfrm>
            <a:off x="685800" y="5596128"/>
            <a:ext cx="10817352" cy="822960"/>
          </a:xfrm>
          <a:prstGeom prst="rect">
            <a:avLst/>
          </a:prstGeom>
          <a:solidFill>
            <a:srgbClr val="E0E6F0"/>
          </a:solidFill>
          <a:ln>
            <a:solidFill>
              <a:srgbClr val="8DA9C4"/>
            </a:solidFill>
          </a:ln>
        </p:spPr>
        <p:style>
          <a:lnRef idx="1">
            <a:schemeClr val="accent1"/>
          </a:lnRef>
          <a:fillRef idx="3">
            <a:schemeClr val="accent1"/>
          </a:fillRef>
          <a:effectRef idx="2">
            <a:schemeClr val="accent1"/>
          </a:effectRef>
          <a:fontRef idx="minor">
            <a:schemeClr val="lt1"/>
          </a:fontRef>
        </p:style>
        <p:txBody>
          <a:bodyPr rtlCol="0" anchor="ctr" wrap="square" tIns="137160" lIns="274320" rIns="274320"/>
          <a:lstStyle/>
          <a:p>
            <a:pPr algn="ctr">
              <a:defRPr sz="1250">
                <a:latin typeface="Arial"/>
              </a:defRPr>
            </a:pPr>
            <a:r>
              <a:rPr b="1">
                <a:solidFill>
                  <a:srgbClr val="415A77"/>
                </a:solidFill>
              </a:rPr>
              <a:t>STEP 05:  </a:t>
            </a:r>
            <a:r>
              <a:rPr b="1">
                <a:solidFill>
                  <a:srgbClr val="0B192C"/>
                </a:solidFill>
              </a:rPr>
              <a:t>Scoring &amp; Recommendations   ➔   </a:t>
            </a:r>
            <a:r>
              <a:rPr>
                <a:solidFill>
                  <a:srgbClr val="505050"/>
                </a:solidFill>
              </a:rPr>
              <a:t>Calculates compatibility scores and matches skill gaps to recommended learning resources.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65760"/>
            <a:ext cx="10817352" cy="365760"/>
          </a:xfrm>
          <a:prstGeom prst="rect">
            <a:avLst/>
          </a:prstGeom>
          <a:noFill/>
        </p:spPr>
        <p:txBody>
          <a:bodyPr wrap="square">
            <a:spAutoFit/>
          </a:bodyPr>
          <a:lstStyle/>
          <a:p>
            <a:pPr>
              <a:defRPr sz="1000" b="1">
                <a:solidFill>
                  <a:srgbClr val="415A77"/>
                </a:solidFill>
                <a:latin typeface="Arial"/>
              </a:defRPr>
            </a:pPr>
            <a:r>
              <a:t>SKILLBRIDGE AI</a:t>
            </a:r>
          </a:p>
        </p:txBody>
      </p:sp>
      <p:sp>
        <p:nvSpPr>
          <p:cNvPr id="3" name="TextBox 2"/>
          <p:cNvSpPr txBox="1"/>
          <p:nvPr/>
        </p:nvSpPr>
        <p:spPr>
          <a:xfrm>
            <a:off x="685800" y="640080"/>
            <a:ext cx="10817352" cy="731520"/>
          </a:xfrm>
          <a:prstGeom prst="rect">
            <a:avLst/>
          </a:prstGeom>
          <a:noFill/>
        </p:spPr>
        <p:txBody>
          <a:bodyPr wrap="square">
            <a:spAutoFit/>
          </a:bodyPr>
          <a:lstStyle/>
          <a:p>
            <a:pPr>
              <a:defRPr sz="2800" b="1">
                <a:solidFill>
                  <a:srgbClr val="0B192C"/>
                </a:solidFill>
                <a:latin typeface="Arial"/>
              </a:defRPr>
            </a:pPr>
            <a:r>
              <a:t>Interactive Dashboard Demo Interface</a:t>
            </a:r>
          </a:p>
        </p:txBody>
      </p:sp>
      <p:sp>
        <p:nvSpPr>
          <p:cNvPr id="4" name="Rounded Rectangle 3"/>
          <p:cNvSpPr/>
          <p:nvPr/>
        </p:nvSpPr>
        <p:spPr>
          <a:xfrm>
            <a:off x="685800" y="1645920"/>
            <a:ext cx="10817352" cy="4389120"/>
          </a:xfrm>
          <a:prstGeom prst="roundRect">
            <a:avLst/>
          </a:prstGeom>
          <a:solidFill>
            <a:srgbClr val="FFFFFF"/>
          </a:solidFill>
          <a:ln w="25400">
            <a:solidFill>
              <a:srgbClr val="415A7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0"/>
              </a:spcAft>
              <a:defRPr sz="1400" b="1">
                <a:solidFill>
                  <a:srgbClr val="415A77"/>
                </a:solidFill>
                <a:latin typeface="Arial"/>
              </a:defRPr>
            </a:pPr>
            <a:r>
              <a:t>💻 SKILLBRIDGE AI INTERACTIVE DASHBOARD DEMO</a:t>
            </a:r>
          </a:p>
        </p:txBody>
      </p:sp>
      <p:sp>
        <p:nvSpPr>
          <p:cNvPr id="5" name="Rectangle 4"/>
          <p:cNvSpPr/>
          <p:nvPr/>
        </p:nvSpPr>
        <p:spPr>
          <a:xfrm>
            <a:off x="1051560" y="2377440"/>
            <a:ext cx="4114800" cy="3108960"/>
          </a:xfrm>
          <a:prstGeom prst="rect">
            <a:avLst/>
          </a:prstGeom>
          <a:solidFill>
            <a:srgbClr val="E0E6F0"/>
          </a:solidFill>
          <a:ln>
            <a:solidFill>
              <a:srgbClr val="8DA9C4"/>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spcBef>
                <a:spcPts val="500"/>
              </a:spcBef>
              <a:spcAft>
                <a:spcPts val="1000"/>
              </a:spcAft>
              <a:defRPr b="1" sz="1500">
                <a:solidFill>
                  <a:srgbClr val="0B192C"/>
                </a:solidFill>
              </a:defRPr>
            </a:pPr>
            <a:r>
              <a:t>ATS Core Metrics</a:t>
            </a:r>
          </a:p>
          <a:p>
            <a:pPr>
              <a:spcAft>
                <a:spcPts val="400"/>
              </a:spcAft>
              <a:defRPr sz="1100">
                <a:solidFill>
                  <a:srgbClr val="505050"/>
                </a:solidFill>
              </a:defRPr>
            </a:pPr>
            <a:r>
              <a:t>• Resume score: 78 / 100</a:t>
            </a:r>
          </a:p>
          <a:p>
            <a:pPr>
              <a:spcAft>
                <a:spcPts val="400"/>
              </a:spcAft>
              <a:defRPr sz="1100">
                <a:solidFill>
                  <a:srgbClr val="505050"/>
                </a:solidFill>
              </a:defRPr>
            </a:pPr>
            <a:r>
              <a:t>• ATS Match score: 82%</a:t>
            </a:r>
          </a:p>
          <a:p>
            <a:pPr>
              <a:spcAft>
                <a:spcPts val="400"/>
              </a:spcAft>
              <a:defRPr sz="1100">
                <a:solidFill>
                  <a:srgbClr val="505050"/>
                </a:solidFill>
              </a:defRPr>
            </a:pPr>
            <a:r>
              <a:t>• Technical matches: 24 out of 30</a:t>
            </a:r>
          </a:p>
          <a:p>
            <a:pPr>
              <a:spcAft>
                <a:spcPts val="400"/>
              </a:spcAft>
              <a:defRPr sz="1100">
                <a:solidFill>
                  <a:srgbClr val="505050"/>
                </a:solidFill>
              </a:defRPr>
            </a:pPr>
            <a:r>
              <a:t>• Required links: Missing GitHub Profile (-3)</a:t>
            </a:r>
          </a:p>
        </p:txBody>
      </p:sp>
      <p:sp>
        <p:nvSpPr>
          <p:cNvPr id="6" name="Rectangle 5"/>
          <p:cNvSpPr/>
          <p:nvPr/>
        </p:nvSpPr>
        <p:spPr>
          <a:xfrm>
            <a:off x="5623560" y="2377440"/>
            <a:ext cx="5486400" cy="3108960"/>
          </a:xfrm>
          <a:prstGeom prst="rect">
            <a:avLst/>
          </a:prstGeom>
          <a:solidFill>
            <a:srgbClr val="E0E6F0"/>
          </a:solidFill>
          <a:ln>
            <a:solidFill>
              <a:srgbClr val="8DA9C4"/>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spcBef>
                <a:spcPts val="500"/>
              </a:spcBef>
              <a:spcAft>
                <a:spcPts val="1000"/>
              </a:spcAft>
              <a:defRPr b="1" sz="1500">
                <a:solidFill>
                  <a:srgbClr val="0B192C"/>
                </a:solidFill>
              </a:defRPr>
            </a:pPr>
            <a:r>
              <a:t>Generated Learning Pathway (Phase-based)</a:t>
            </a:r>
          </a:p>
          <a:p>
            <a:pPr>
              <a:spcAft>
                <a:spcPts val="400"/>
              </a:spcAft>
              <a:defRPr sz="1100">
                <a:solidFill>
                  <a:srgbClr val="505050"/>
                </a:solidFill>
              </a:defRPr>
            </a:pPr>
            <a:r>
              <a:t>Phase 1: Learn TypeScript basics (3 weeks)</a:t>
            </a:r>
          </a:p>
          <a:p>
            <a:pPr>
              <a:spcAft>
                <a:spcPts val="400"/>
              </a:spcAft>
              <a:defRPr sz="1100">
                <a:solidFill>
                  <a:srgbClr val="505050"/>
                </a:solidFill>
              </a:defRPr>
            </a:pPr>
            <a:r>
              <a:t>   └ Recommended: Course 'TypeScript Fundamentals'</a:t>
            </a:r>
          </a:p>
          <a:p>
            <a:pPr>
              <a:spcAft>
                <a:spcPts val="400"/>
              </a:spcAft>
              <a:defRPr sz="1100">
                <a:solidFill>
                  <a:srgbClr val="505050"/>
                </a:solidFill>
              </a:defRPr>
            </a:pPr>
            <a:r>
              <a:t>Phase 2: Master State Management (4 weeks)</a:t>
            </a:r>
          </a:p>
          <a:p>
            <a:pPr>
              <a:spcAft>
                <a:spcPts val="400"/>
              </a:spcAft>
              <a:defRPr sz="1100">
                <a:solidFill>
                  <a:srgbClr val="505050"/>
                </a:solidFill>
              </a:defRPr>
            </a:pPr>
            <a:r>
              <a:t>   └ Project task: 'Redux Shopping Cart Storefront'</a:t>
            </a:r>
          </a:p>
          <a:p>
            <a:pPr>
              <a:spcAft>
                <a:spcPts val="400"/>
              </a:spcAft>
              <a:defRPr sz="1100">
                <a:solidFill>
                  <a:srgbClr val="505050"/>
                </a:solidFill>
              </a:defRPr>
            </a:pPr>
            <a:r>
              <a:t>Phase 3: Deploy Backend REST API (2 weeks)</a:t>
            </a:r>
          </a:p>
          <a:p>
            <a:pPr>
              <a:spcAft>
                <a:spcPts val="400"/>
              </a:spcAft>
              <a:defRPr sz="1100">
                <a:solidFill>
                  <a:srgbClr val="505050"/>
                </a:solidFill>
              </a:defRPr>
            </a:pPr>
            <a:r>
              <a:t>   └ Recommendation: 'FastAPI Microservice Engine'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65760"/>
            <a:ext cx="10817352" cy="365760"/>
          </a:xfrm>
          <a:prstGeom prst="rect">
            <a:avLst/>
          </a:prstGeom>
          <a:noFill/>
        </p:spPr>
        <p:txBody>
          <a:bodyPr wrap="square">
            <a:spAutoFit/>
          </a:bodyPr>
          <a:lstStyle/>
          <a:p>
            <a:pPr>
              <a:defRPr sz="1000" b="1">
                <a:solidFill>
                  <a:srgbClr val="415A77"/>
                </a:solidFill>
                <a:latin typeface="Arial"/>
              </a:defRPr>
            </a:pPr>
            <a:r>
              <a:t>SKILLBRIDGE AI</a:t>
            </a:r>
          </a:p>
        </p:txBody>
      </p:sp>
      <p:sp>
        <p:nvSpPr>
          <p:cNvPr id="3" name="TextBox 2"/>
          <p:cNvSpPr txBox="1"/>
          <p:nvPr/>
        </p:nvSpPr>
        <p:spPr>
          <a:xfrm>
            <a:off x="685800" y="640080"/>
            <a:ext cx="10817352" cy="731520"/>
          </a:xfrm>
          <a:prstGeom prst="rect">
            <a:avLst/>
          </a:prstGeom>
          <a:noFill/>
        </p:spPr>
        <p:txBody>
          <a:bodyPr wrap="square">
            <a:spAutoFit/>
          </a:bodyPr>
          <a:lstStyle/>
          <a:p>
            <a:pPr>
              <a:defRPr sz="2800" b="1">
                <a:solidFill>
                  <a:srgbClr val="0B192C"/>
                </a:solidFill>
                <a:latin typeface="Arial"/>
              </a:defRPr>
            </a:pPr>
            <a:r>
              <a:t>Automated Cloud Deployment</a:t>
            </a:r>
          </a:p>
        </p:txBody>
      </p:sp>
      <p:sp>
        <p:nvSpPr>
          <p:cNvPr id="4" name="Rounded Rectangle 3"/>
          <p:cNvSpPr/>
          <p:nvPr/>
        </p:nvSpPr>
        <p:spPr>
          <a:xfrm>
            <a:off x="685800" y="2011680"/>
            <a:ext cx="2468880" cy="3840480"/>
          </a:xfrm>
          <a:prstGeom prst="roundRect">
            <a:avLst/>
          </a:prstGeom>
          <a:solidFill>
            <a:srgbClr val="E0E6F0"/>
          </a:solidFill>
          <a:ln w="19050">
            <a:solidFill>
              <a:srgbClr val="415A77"/>
            </a:solidFill>
          </a:ln>
        </p:spPr>
        <p:style>
          <a:lnRef idx="1">
            <a:schemeClr val="accent1"/>
          </a:lnRef>
          <a:fillRef idx="3">
            <a:schemeClr val="accent1"/>
          </a:fillRef>
          <a:effectRef idx="2">
            <a:schemeClr val="accent1"/>
          </a:effectRef>
          <a:fontRef idx="minor">
            <a:schemeClr val="lt1"/>
          </a:fontRef>
        </p:style>
        <p:txBody>
          <a:bodyPr rtlCol="0" anchor="ctr" wrap="square" tIns="274320" lIns="137160" rIns="137160"/>
          <a:lstStyle/>
          <a:p>
            <a:pPr algn="ctr">
              <a:spcAft>
                <a:spcPts val="1000"/>
              </a:spcAft>
              <a:defRPr sz="2400" b="1">
                <a:solidFill>
                  <a:srgbClr val="415A77"/>
                </a:solidFill>
                <a:latin typeface="Arial"/>
              </a:defRPr>
            </a:pPr>
            <a:r>
              <a:t>01</a:t>
            </a:r>
          </a:p>
          <a:p>
            <a:pPr algn="ctr">
              <a:spcAft>
                <a:spcPts val="1200"/>
              </a:spcAft>
              <a:defRPr sz="1500" b="1">
                <a:solidFill>
                  <a:srgbClr val="0B192C"/>
                </a:solidFill>
                <a:latin typeface="Arial"/>
              </a:defRPr>
            </a:pPr>
            <a:r>
              <a:t>GitHub Repository</a:t>
            </a:r>
          </a:p>
          <a:p>
            <a:pPr algn="ctr">
              <a:lnSpc>
                <a:spcPct val="125000"/>
              </a:lnSpc>
              <a:defRPr sz="1100">
                <a:solidFill>
                  <a:srgbClr val="505050"/>
                </a:solidFill>
                <a:latin typeface="Arial"/>
              </a:defRPr>
            </a:pPr>
            <a:r>
              <a:t>Version control source host. Commits trigger webhook deployment scripts.</a:t>
            </a:r>
          </a:p>
        </p:txBody>
      </p:sp>
      <p:sp>
        <p:nvSpPr>
          <p:cNvPr id="5" name="Rounded Rectangle 4"/>
          <p:cNvSpPr/>
          <p:nvPr/>
        </p:nvSpPr>
        <p:spPr>
          <a:xfrm>
            <a:off x="3429000" y="2011680"/>
            <a:ext cx="2468880" cy="3840480"/>
          </a:xfrm>
          <a:prstGeom prst="roundRect">
            <a:avLst/>
          </a:prstGeom>
          <a:solidFill>
            <a:srgbClr val="E0E6F0"/>
          </a:solidFill>
          <a:ln w="19050">
            <a:solidFill>
              <a:srgbClr val="415A77"/>
            </a:solidFill>
          </a:ln>
        </p:spPr>
        <p:style>
          <a:lnRef idx="1">
            <a:schemeClr val="accent1"/>
          </a:lnRef>
          <a:fillRef idx="3">
            <a:schemeClr val="accent1"/>
          </a:fillRef>
          <a:effectRef idx="2">
            <a:schemeClr val="accent1"/>
          </a:effectRef>
          <a:fontRef idx="minor">
            <a:schemeClr val="lt1"/>
          </a:fontRef>
        </p:style>
        <p:txBody>
          <a:bodyPr rtlCol="0" anchor="ctr" wrap="square" tIns="274320" lIns="137160" rIns="137160"/>
          <a:lstStyle/>
          <a:p>
            <a:pPr algn="ctr">
              <a:spcAft>
                <a:spcPts val="1000"/>
              </a:spcAft>
              <a:defRPr sz="2400" b="1">
                <a:solidFill>
                  <a:srgbClr val="415A77"/>
                </a:solidFill>
                <a:latin typeface="Arial"/>
              </a:defRPr>
            </a:pPr>
            <a:r>
              <a:t>02</a:t>
            </a:r>
          </a:p>
          <a:p>
            <a:pPr algn="ctr">
              <a:spcAft>
                <a:spcPts val="1200"/>
              </a:spcAft>
              <a:defRPr sz="1500" b="1">
                <a:solidFill>
                  <a:srgbClr val="0B192C"/>
                </a:solidFill>
                <a:latin typeface="Arial"/>
              </a:defRPr>
            </a:pPr>
            <a:r>
              <a:t>Vercel Static Hosting</a:t>
            </a:r>
          </a:p>
          <a:p>
            <a:pPr algn="ctr">
              <a:lnSpc>
                <a:spcPct val="125000"/>
              </a:lnSpc>
              <a:defRPr sz="1100">
                <a:solidFill>
                  <a:srgbClr val="505050"/>
                </a:solidFill>
                <a:latin typeface="Arial"/>
              </a:defRPr>
            </a:pPr>
            <a:r>
              <a:t>Builds frontend SPA. Optimizes route configurations and static React files.</a:t>
            </a:r>
          </a:p>
        </p:txBody>
      </p:sp>
      <p:sp>
        <p:nvSpPr>
          <p:cNvPr id="6" name="Rounded Rectangle 5"/>
          <p:cNvSpPr/>
          <p:nvPr/>
        </p:nvSpPr>
        <p:spPr>
          <a:xfrm>
            <a:off x="6172200" y="2011680"/>
            <a:ext cx="2468880" cy="3840480"/>
          </a:xfrm>
          <a:prstGeom prst="roundRect">
            <a:avLst/>
          </a:prstGeom>
          <a:solidFill>
            <a:srgbClr val="E0E6F0"/>
          </a:solidFill>
          <a:ln w="19050">
            <a:solidFill>
              <a:srgbClr val="415A77"/>
            </a:solidFill>
          </a:ln>
        </p:spPr>
        <p:style>
          <a:lnRef idx="1">
            <a:schemeClr val="accent1"/>
          </a:lnRef>
          <a:fillRef idx="3">
            <a:schemeClr val="accent1"/>
          </a:fillRef>
          <a:effectRef idx="2">
            <a:schemeClr val="accent1"/>
          </a:effectRef>
          <a:fontRef idx="minor">
            <a:schemeClr val="lt1"/>
          </a:fontRef>
        </p:style>
        <p:txBody>
          <a:bodyPr rtlCol="0" anchor="ctr" wrap="square" tIns="274320" lIns="137160" rIns="137160"/>
          <a:lstStyle/>
          <a:p>
            <a:pPr algn="ctr">
              <a:spcAft>
                <a:spcPts val="1000"/>
              </a:spcAft>
              <a:defRPr sz="2400" b="1">
                <a:solidFill>
                  <a:srgbClr val="415A77"/>
                </a:solidFill>
                <a:latin typeface="Arial"/>
              </a:defRPr>
            </a:pPr>
            <a:r>
              <a:t>03</a:t>
            </a:r>
          </a:p>
          <a:p>
            <a:pPr algn="ctr">
              <a:spcAft>
                <a:spcPts val="1200"/>
              </a:spcAft>
              <a:defRPr sz="1500" b="1">
                <a:solidFill>
                  <a:srgbClr val="0B192C"/>
                </a:solidFill>
                <a:latin typeface="Arial"/>
              </a:defRPr>
            </a:pPr>
            <a:r>
              <a:t>Render Server Host</a:t>
            </a:r>
          </a:p>
          <a:p>
            <a:pPr algn="ctr">
              <a:lnSpc>
                <a:spcPct val="125000"/>
              </a:lnSpc>
              <a:defRPr sz="1100">
                <a:solidFill>
                  <a:srgbClr val="505050"/>
                </a:solidFill>
                <a:latin typeface="Arial"/>
              </a:defRPr>
            </a:pPr>
            <a:r>
              <a:t>Builds backend Docker containers, manages connection pooling, and handles API requests.</a:t>
            </a:r>
          </a:p>
        </p:txBody>
      </p:sp>
      <p:sp>
        <p:nvSpPr>
          <p:cNvPr id="7" name="Rounded Rectangle 6"/>
          <p:cNvSpPr/>
          <p:nvPr/>
        </p:nvSpPr>
        <p:spPr>
          <a:xfrm>
            <a:off x="8915400" y="2011680"/>
            <a:ext cx="2468880" cy="3840480"/>
          </a:xfrm>
          <a:prstGeom prst="roundRect">
            <a:avLst/>
          </a:prstGeom>
          <a:solidFill>
            <a:srgbClr val="E0E6F0"/>
          </a:solidFill>
          <a:ln w="19050">
            <a:solidFill>
              <a:srgbClr val="415A77"/>
            </a:solidFill>
          </a:ln>
        </p:spPr>
        <p:style>
          <a:lnRef idx="1">
            <a:schemeClr val="accent1"/>
          </a:lnRef>
          <a:fillRef idx="3">
            <a:schemeClr val="accent1"/>
          </a:fillRef>
          <a:effectRef idx="2">
            <a:schemeClr val="accent1"/>
          </a:effectRef>
          <a:fontRef idx="minor">
            <a:schemeClr val="lt1"/>
          </a:fontRef>
        </p:style>
        <p:txBody>
          <a:bodyPr rtlCol="0" anchor="ctr" wrap="square" tIns="274320" lIns="137160" rIns="137160"/>
          <a:lstStyle/>
          <a:p>
            <a:pPr algn="ctr">
              <a:spcAft>
                <a:spcPts val="1000"/>
              </a:spcAft>
              <a:defRPr sz="2400" b="1">
                <a:solidFill>
                  <a:srgbClr val="415A77"/>
                </a:solidFill>
                <a:latin typeface="Arial"/>
              </a:defRPr>
            </a:pPr>
            <a:r>
              <a:t>04</a:t>
            </a:r>
          </a:p>
          <a:p>
            <a:pPr algn="ctr">
              <a:spcAft>
                <a:spcPts val="1200"/>
              </a:spcAft>
              <a:defRPr sz="1500" b="1">
                <a:solidFill>
                  <a:srgbClr val="0B192C"/>
                </a:solidFill>
                <a:latin typeface="Arial"/>
              </a:defRPr>
            </a:pPr>
            <a:r>
              <a:t>PostgreSQL database</a:t>
            </a:r>
          </a:p>
          <a:p>
            <a:pPr algn="ctr">
              <a:lnSpc>
                <a:spcPct val="125000"/>
              </a:lnSpc>
              <a:defRPr sz="1100">
                <a:solidFill>
                  <a:srgbClr val="505050"/>
                </a:solidFill>
                <a:latin typeface="Arial"/>
              </a:defRPr>
            </a:pPr>
            <a:r>
              <a:t>Hosted relational database storing user records, resume paths, and analysis histories.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65760"/>
            <a:ext cx="10817352" cy="365760"/>
          </a:xfrm>
          <a:prstGeom prst="rect">
            <a:avLst/>
          </a:prstGeom>
          <a:noFill/>
        </p:spPr>
        <p:txBody>
          <a:bodyPr wrap="square">
            <a:spAutoFit/>
          </a:bodyPr>
          <a:lstStyle/>
          <a:p>
            <a:pPr>
              <a:defRPr sz="1000" b="1">
                <a:solidFill>
                  <a:srgbClr val="415A77"/>
                </a:solidFill>
                <a:latin typeface="Arial"/>
              </a:defRPr>
            </a:pPr>
            <a:r>
              <a:t>SKILLBRIDGE AI</a:t>
            </a:r>
          </a:p>
        </p:txBody>
      </p:sp>
      <p:sp>
        <p:nvSpPr>
          <p:cNvPr id="3" name="TextBox 2"/>
          <p:cNvSpPr txBox="1"/>
          <p:nvPr/>
        </p:nvSpPr>
        <p:spPr>
          <a:xfrm>
            <a:off x="685800" y="640080"/>
            <a:ext cx="10817352" cy="731520"/>
          </a:xfrm>
          <a:prstGeom prst="rect">
            <a:avLst/>
          </a:prstGeom>
          <a:noFill/>
        </p:spPr>
        <p:txBody>
          <a:bodyPr wrap="square">
            <a:spAutoFit/>
          </a:bodyPr>
          <a:lstStyle/>
          <a:p>
            <a:pPr>
              <a:defRPr sz="2800" b="1">
                <a:solidFill>
                  <a:srgbClr val="0B192C"/>
                </a:solidFill>
                <a:latin typeface="Arial"/>
              </a:defRPr>
            </a:pPr>
            <a:r>
              <a:t>Platform Extension Roadmap</a:t>
            </a:r>
          </a:p>
        </p:txBody>
      </p:sp>
      <p:sp>
        <p:nvSpPr>
          <p:cNvPr id="4" name="Rounded Rectangle 3"/>
          <p:cNvSpPr/>
          <p:nvPr/>
        </p:nvSpPr>
        <p:spPr>
          <a:xfrm>
            <a:off x="685800" y="2011680"/>
            <a:ext cx="2468880" cy="3840480"/>
          </a:xfrm>
          <a:prstGeom prst="roundRect">
            <a:avLst/>
          </a:prstGeom>
          <a:solidFill>
            <a:srgbClr val="E0E6F0"/>
          </a:solidFill>
          <a:ln>
            <a:solidFill>
              <a:srgbClr val="8DA9C4"/>
            </a:solidFill>
          </a:ln>
        </p:spPr>
        <p:style>
          <a:lnRef idx="1">
            <a:schemeClr val="accent1"/>
          </a:lnRef>
          <a:fillRef idx="3">
            <a:schemeClr val="accent1"/>
          </a:fillRef>
          <a:effectRef idx="2">
            <a:schemeClr val="accent1"/>
          </a:effectRef>
          <a:fontRef idx="minor">
            <a:schemeClr val="lt1"/>
          </a:fontRef>
        </p:style>
        <p:txBody>
          <a:bodyPr rtlCol="0" anchor="ctr" wrap="square" tIns="274320" lIns="137160" rIns="137160"/>
          <a:lstStyle/>
          <a:p>
            <a:pPr algn="ctr">
              <a:spcAft>
                <a:spcPts val="1600"/>
              </a:spcAft>
              <a:defRPr sz="1600" b="1">
                <a:solidFill>
                  <a:srgbClr val="415A77"/>
                </a:solidFill>
                <a:latin typeface="Arial"/>
              </a:defRPr>
            </a:pPr>
            <a:r>
              <a:t>PHASE 1</a:t>
            </a:r>
          </a:p>
          <a:p>
            <a:pPr algn="ctr">
              <a:lnSpc>
                <a:spcPct val="130000"/>
              </a:lnSpc>
              <a:defRPr sz="1200">
                <a:solidFill>
                  <a:srgbClr val="505050"/>
                </a:solidFill>
                <a:latin typeface="Arial"/>
              </a:defRPr>
            </a:pPr>
            <a:r>
              <a:t>AI Interview prep engine. Generates interview questions tailored to the candidate's target career goals.</a:t>
            </a:r>
          </a:p>
        </p:txBody>
      </p:sp>
      <p:sp>
        <p:nvSpPr>
          <p:cNvPr id="5" name="Rounded Rectangle 4"/>
          <p:cNvSpPr/>
          <p:nvPr/>
        </p:nvSpPr>
        <p:spPr>
          <a:xfrm>
            <a:off x="3429000" y="2011680"/>
            <a:ext cx="2468880" cy="3840480"/>
          </a:xfrm>
          <a:prstGeom prst="roundRect">
            <a:avLst/>
          </a:prstGeom>
          <a:solidFill>
            <a:srgbClr val="E0E6F0"/>
          </a:solidFill>
          <a:ln>
            <a:solidFill>
              <a:srgbClr val="8DA9C4"/>
            </a:solidFill>
          </a:ln>
        </p:spPr>
        <p:style>
          <a:lnRef idx="1">
            <a:schemeClr val="accent1"/>
          </a:lnRef>
          <a:fillRef idx="3">
            <a:schemeClr val="accent1"/>
          </a:fillRef>
          <a:effectRef idx="2">
            <a:schemeClr val="accent1"/>
          </a:effectRef>
          <a:fontRef idx="minor">
            <a:schemeClr val="lt1"/>
          </a:fontRef>
        </p:style>
        <p:txBody>
          <a:bodyPr rtlCol="0" anchor="ctr" wrap="square" tIns="274320" lIns="137160" rIns="137160"/>
          <a:lstStyle/>
          <a:p>
            <a:pPr algn="ctr">
              <a:spcAft>
                <a:spcPts val="1600"/>
              </a:spcAft>
              <a:defRPr sz="1600" b="1">
                <a:solidFill>
                  <a:srgbClr val="415A77"/>
                </a:solidFill>
                <a:latin typeface="Arial"/>
              </a:defRPr>
            </a:pPr>
            <a:r>
              <a:t>PHASE 2</a:t>
            </a:r>
          </a:p>
          <a:p>
            <a:pPr algn="ctr">
              <a:lnSpc>
                <a:spcPct val="130000"/>
              </a:lnSpc>
              <a:defRPr sz="1200">
                <a:solidFill>
                  <a:srgbClr val="505050"/>
                </a:solidFill>
                <a:latin typeface="Arial"/>
              </a:defRPr>
            </a:pPr>
            <a:r>
              <a:t>Automatic Cover Letter generator matching resume context to specific job descriptions.</a:t>
            </a:r>
          </a:p>
        </p:txBody>
      </p:sp>
      <p:sp>
        <p:nvSpPr>
          <p:cNvPr id="6" name="Rounded Rectangle 5"/>
          <p:cNvSpPr/>
          <p:nvPr/>
        </p:nvSpPr>
        <p:spPr>
          <a:xfrm>
            <a:off x="6172200" y="2011680"/>
            <a:ext cx="2468880" cy="3840480"/>
          </a:xfrm>
          <a:prstGeom prst="roundRect">
            <a:avLst/>
          </a:prstGeom>
          <a:solidFill>
            <a:srgbClr val="E0E6F0"/>
          </a:solidFill>
          <a:ln>
            <a:solidFill>
              <a:srgbClr val="8DA9C4"/>
            </a:solidFill>
          </a:ln>
        </p:spPr>
        <p:style>
          <a:lnRef idx="1">
            <a:schemeClr val="accent1"/>
          </a:lnRef>
          <a:fillRef idx="3">
            <a:schemeClr val="accent1"/>
          </a:fillRef>
          <a:effectRef idx="2">
            <a:schemeClr val="accent1"/>
          </a:effectRef>
          <a:fontRef idx="minor">
            <a:schemeClr val="lt1"/>
          </a:fontRef>
        </p:style>
        <p:txBody>
          <a:bodyPr rtlCol="0" anchor="ctr" wrap="square" tIns="274320" lIns="137160" rIns="137160"/>
          <a:lstStyle/>
          <a:p>
            <a:pPr algn="ctr">
              <a:spcAft>
                <a:spcPts val="1600"/>
              </a:spcAft>
              <a:defRPr sz="1600" b="1">
                <a:solidFill>
                  <a:srgbClr val="415A77"/>
                </a:solidFill>
                <a:latin typeface="Arial"/>
              </a:defRPr>
            </a:pPr>
            <a:r>
              <a:t>PHASE 3</a:t>
            </a:r>
          </a:p>
          <a:p>
            <a:pPr algn="ctr">
              <a:lnSpc>
                <a:spcPct val="130000"/>
              </a:lnSpc>
              <a:defRPr sz="1200">
                <a:solidFill>
                  <a:srgbClr val="505050"/>
                </a:solidFill>
                <a:latin typeface="Arial"/>
              </a:defRPr>
            </a:pPr>
            <a:r>
              <a:t>Integrates live job board search queries to suggest active job postings that match the candidate's skills.</a:t>
            </a:r>
          </a:p>
        </p:txBody>
      </p:sp>
      <p:sp>
        <p:nvSpPr>
          <p:cNvPr id="7" name="Rounded Rectangle 6"/>
          <p:cNvSpPr/>
          <p:nvPr/>
        </p:nvSpPr>
        <p:spPr>
          <a:xfrm>
            <a:off x="8915400" y="2011680"/>
            <a:ext cx="2468880" cy="3840480"/>
          </a:xfrm>
          <a:prstGeom prst="roundRect">
            <a:avLst/>
          </a:prstGeom>
          <a:solidFill>
            <a:srgbClr val="E0E6F0"/>
          </a:solidFill>
          <a:ln>
            <a:solidFill>
              <a:srgbClr val="8DA9C4"/>
            </a:solidFill>
          </a:ln>
        </p:spPr>
        <p:style>
          <a:lnRef idx="1">
            <a:schemeClr val="accent1"/>
          </a:lnRef>
          <a:fillRef idx="3">
            <a:schemeClr val="accent1"/>
          </a:fillRef>
          <a:effectRef idx="2">
            <a:schemeClr val="accent1"/>
          </a:effectRef>
          <a:fontRef idx="minor">
            <a:schemeClr val="lt1"/>
          </a:fontRef>
        </p:style>
        <p:txBody>
          <a:bodyPr rtlCol="0" anchor="ctr" wrap="square" tIns="274320" lIns="137160" rIns="137160"/>
          <a:lstStyle/>
          <a:p>
            <a:pPr algn="ctr">
              <a:spcAft>
                <a:spcPts val="1600"/>
              </a:spcAft>
              <a:defRPr sz="1600" b="1">
                <a:solidFill>
                  <a:srgbClr val="415A77"/>
                </a:solidFill>
                <a:latin typeface="Arial"/>
              </a:defRPr>
            </a:pPr>
            <a:r>
              <a:t>PHASE 4</a:t>
            </a:r>
          </a:p>
          <a:p>
            <a:pPr algn="ctr">
              <a:lnSpc>
                <a:spcPct val="130000"/>
              </a:lnSpc>
              <a:defRPr sz="1200">
                <a:solidFill>
                  <a:srgbClr val="505050"/>
                </a:solidFill>
                <a:latin typeface="Arial"/>
              </a:defRPr>
            </a:pPr>
            <a:r>
              <a:t>Self-building career pathway editor allowing team leads to customize learning roadmaps.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65760"/>
            <a:ext cx="10817352" cy="365760"/>
          </a:xfrm>
          <a:prstGeom prst="rect">
            <a:avLst/>
          </a:prstGeom>
          <a:noFill/>
        </p:spPr>
        <p:txBody>
          <a:bodyPr wrap="square">
            <a:spAutoFit/>
          </a:bodyPr>
          <a:lstStyle/>
          <a:p>
            <a:pPr>
              <a:defRPr sz="1000" b="1">
                <a:solidFill>
                  <a:srgbClr val="415A77"/>
                </a:solidFill>
                <a:latin typeface="Arial"/>
              </a:defRPr>
            </a:pPr>
            <a:r>
              <a:t>SKILLBRIDGE AI</a:t>
            </a:r>
          </a:p>
        </p:txBody>
      </p:sp>
      <p:sp>
        <p:nvSpPr>
          <p:cNvPr id="3" name="TextBox 2"/>
          <p:cNvSpPr txBox="1"/>
          <p:nvPr/>
        </p:nvSpPr>
        <p:spPr>
          <a:xfrm>
            <a:off x="685800" y="640080"/>
            <a:ext cx="10817352" cy="731520"/>
          </a:xfrm>
          <a:prstGeom prst="rect">
            <a:avLst/>
          </a:prstGeom>
          <a:noFill/>
        </p:spPr>
        <p:txBody>
          <a:bodyPr wrap="square">
            <a:spAutoFit/>
          </a:bodyPr>
          <a:lstStyle/>
          <a:p>
            <a:pPr>
              <a:defRPr sz="2800" b="1">
                <a:solidFill>
                  <a:srgbClr val="0B192C"/>
                </a:solidFill>
                <a:latin typeface="Arial"/>
              </a:defRPr>
            </a:pPr>
            <a:r>
              <a:t>Value Creation &amp; Platform Impact</a:t>
            </a:r>
          </a:p>
        </p:txBody>
      </p:sp>
      <p:sp>
        <p:nvSpPr>
          <p:cNvPr id="4" name="Rectangle 3"/>
          <p:cNvSpPr/>
          <p:nvPr/>
        </p:nvSpPr>
        <p:spPr>
          <a:xfrm>
            <a:off x="685800" y="1645920"/>
            <a:ext cx="5120640" cy="4389120"/>
          </a:xfrm>
          <a:prstGeom prst="rect">
            <a:avLst/>
          </a:prstGeom>
          <a:solidFill>
            <a:srgbClr val="E0E6F0"/>
          </a:solidFill>
          <a:ln>
            <a:solidFill>
              <a:srgbClr val="8DA9C4"/>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spcAft>
                <a:spcPts val="1400"/>
              </a:spcAft>
              <a:defRPr sz="2000" b="1">
                <a:solidFill>
                  <a:srgbClr val="0B192C"/>
                </a:solidFill>
                <a:latin typeface="Arial"/>
              </a:defRPr>
            </a:pPr>
            <a:r>
              <a:t>Target Audience Benefits</a:t>
            </a:r>
          </a:p>
          <a:p>
            <a:pPr>
              <a:spcAft>
                <a:spcPts val="1200"/>
              </a:spcAft>
              <a:defRPr sz="1200"/>
            </a:pPr>
            <a:r>
              <a:rPr b="1">
                <a:solidFill>
                  <a:srgbClr val="415A77"/>
                </a:solidFill>
              </a:rPr>
              <a:t>✔  Students &amp; Freshers:</a:t>
            </a:r>
            <a:r>
              <a:rPr>
                <a:solidFill>
                  <a:srgbClr val="505050"/>
                </a:solidFill>
              </a:rPr>
              <a:t> Highlights exact skill gaps, helping them target relevant study areas.</a:t>
            </a:r>
          </a:p>
          <a:p>
            <a:pPr>
              <a:spcAft>
                <a:spcPts val="1200"/>
              </a:spcAft>
              <a:defRPr sz="1200"/>
            </a:pPr>
            <a:r>
              <a:rPr b="1">
                <a:solidFill>
                  <a:srgbClr val="415A77"/>
                </a:solidFill>
              </a:rPr>
              <a:t>✔  Job Seekers:</a:t>
            </a:r>
            <a:r>
              <a:rPr>
                <a:solidFill>
                  <a:srgbClr val="505050"/>
                </a:solidFill>
              </a:rPr>
              <a:t> Explains ATS formatting metrics, helping them improve initial resume screening rates.</a:t>
            </a:r>
          </a:p>
          <a:p>
            <a:pPr>
              <a:spcAft>
                <a:spcPts val="1200"/>
              </a:spcAft>
              <a:defRPr sz="1200"/>
            </a:pPr>
            <a:r>
              <a:rPr b="1">
                <a:solidFill>
                  <a:srgbClr val="415A77"/>
                </a:solidFill>
              </a:rPr>
              <a:t>✔  Recruiters:</a:t>
            </a:r>
            <a:r>
              <a:rPr>
                <a:solidFill>
                  <a:srgbClr val="505050"/>
                </a:solidFill>
              </a:rPr>
              <a:t> Provides candidates with clear feedback, improving general applicant pool quality.</a:t>
            </a:r>
          </a:p>
          <a:p>
            <a:pPr>
              <a:spcAft>
                <a:spcPts val="1200"/>
              </a:spcAft>
              <a:defRPr sz="1200"/>
            </a:pPr>
            <a:r>
              <a:rPr b="1">
                <a:solidFill>
                  <a:srgbClr val="415A77"/>
                </a:solidFill>
              </a:rPr>
              <a:t>✔  Academic Mentors:</a:t>
            </a:r>
            <a:r>
              <a:rPr>
                <a:solidFill>
                  <a:srgbClr val="505050"/>
                </a:solidFill>
              </a:rPr>
              <a:t> Standardizes student profile tracking and simplifies review processes.</a:t>
            </a:r>
          </a:p>
        </p:txBody>
      </p:sp>
      <p:sp>
        <p:nvSpPr>
          <p:cNvPr id="5" name="Rectangle 4"/>
          <p:cNvSpPr/>
          <p:nvPr/>
        </p:nvSpPr>
        <p:spPr>
          <a:xfrm>
            <a:off x="6309360" y="1645920"/>
            <a:ext cx="5120640" cy="4389120"/>
          </a:xfrm>
          <a:prstGeom prst="rect">
            <a:avLst/>
          </a:prstGeom>
          <a:solidFill>
            <a:srgbClr val="E0E6F0"/>
          </a:solidFill>
          <a:ln>
            <a:solidFill>
              <a:srgbClr val="8DA9C4"/>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spcAft>
                <a:spcPts val="1400"/>
              </a:spcAft>
              <a:defRPr sz="2000" b="1">
                <a:solidFill>
                  <a:srgbClr val="0B192C"/>
                </a:solidFill>
                <a:latin typeface="Arial"/>
              </a:defRPr>
            </a:pPr>
            <a:r>
              <a:t>Project Outcomes</a:t>
            </a:r>
          </a:p>
          <a:p>
            <a:pPr>
              <a:spcAft>
                <a:spcPts val="1200"/>
              </a:spcAft>
              <a:defRPr sz="1200"/>
            </a:pPr>
            <a:r>
              <a:rPr b="1">
                <a:solidFill>
                  <a:srgbClr val="415A77"/>
                </a:solidFill>
              </a:rPr>
              <a:t>★  Better Resume Quality:</a:t>
            </a:r>
            <a:r>
              <a:rPr>
                <a:solidFill>
                  <a:srgbClr val="505050"/>
                </a:solidFill>
              </a:rPr>
              <a:t> Identifies weak sections and format issues.</a:t>
            </a:r>
          </a:p>
          <a:p>
            <a:pPr>
              <a:spcAft>
                <a:spcPts val="1200"/>
              </a:spcAft>
              <a:defRPr sz="1200"/>
            </a:pPr>
            <a:r>
              <a:rPr b="1">
                <a:solidFill>
                  <a:srgbClr val="415A77"/>
                </a:solidFill>
              </a:rPr>
              <a:t>★  Transparent ATS Scoring:</a:t>
            </a:r>
            <a:r>
              <a:rPr>
                <a:solidFill>
                  <a:srgbClr val="505050"/>
                </a:solidFill>
              </a:rPr>
              <a:t> Provides actionable guidelines to pass automated filters.</a:t>
            </a:r>
          </a:p>
          <a:p>
            <a:pPr>
              <a:spcAft>
                <a:spcPts val="1200"/>
              </a:spcAft>
              <a:defRPr sz="1200"/>
            </a:pPr>
            <a:r>
              <a:rPr b="1">
                <a:solidFill>
                  <a:srgbClr val="415A77"/>
                </a:solidFill>
              </a:rPr>
              <a:t>★  Personalized Guidance:</a:t>
            </a:r>
            <a:r>
              <a:rPr>
                <a:solidFill>
                  <a:srgbClr val="505050"/>
                </a:solidFill>
              </a:rPr>
              <a:t> Connects skill gaps directly to recommended projects.</a:t>
            </a:r>
          </a:p>
          <a:p>
            <a:pPr>
              <a:spcAft>
                <a:spcPts val="1200"/>
              </a:spcAft>
              <a:defRPr sz="1200"/>
            </a:pPr>
            <a:r>
              <a:rPr b="1">
                <a:solidFill>
                  <a:srgbClr val="415A77"/>
                </a:solidFill>
              </a:rPr>
              <a:t>★  Data Privacy:</a:t>
            </a:r>
            <a:r>
              <a:rPr>
                <a:solidFill>
                  <a:srgbClr val="505050"/>
                </a:solidFill>
              </a:rPr>
              <a:t> All text extraction and NLP matches run completely locally.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92C"/>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415A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332720" cy="1828800"/>
          </a:xfrm>
          <a:prstGeom prst="rect">
            <a:avLst/>
          </a:prstGeom>
          <a:noFill/>
        </p:spPr>
        <p:txBody>
          <a:bodyPr wrap="square">
            <a:spAutoFit/>
          </a:bodyPr>
          <a:lstStyle/>
          <a:p>
            <a:pPr>
              <a:defRPr sz="5600" b="1">
                <a:solidFill>
                  <a:srgbClr val="FFFFFF"/>
                </a:solidFill>
                <a:latin typeface="Arial"/>
              </a:defRPr>
            </a:pPr>
            <a:r>
              <a:t>THANK YOU</a:t>
            </a:r>
          </a:p>
          <a:p>
            <a:pPr>
              <a:spcBef>
                <a:spcPts val="1000"/>
              </a:spcBef>
              <a:defRPr sz="2200">
                <a:solidFill>
                  <a:srgbClr val="8DA9C4"/>
                </a:solidFill>
                <a:latin typeface="Arial"/>
              </a:defRPr>
            </a:pPr>
            <a:r>
              <a:t>Questions &amp; Answers Session</a:t>
            </a:r>
          </a:p>
        </p:txBody>
      </p:sp>
      <p:sp>
        <p:nvSpPr>
          <p:cNvPr id="4" name="TextBox 3"/>
          <p:cNvSpPr txBox="1"/>
          <p:nvPr/>
        </p:nvSpPr>
        <p:spPr>
          <a:xfrm>
            <a:off x="914400" y="3840480"/>
            <a:ext cx="10332720" cy="2011680"/>
          </a:xfrm>
          <a:prstGeom prst="rect">
            <a:avLst/>
          </a:prstGeom>
          <a:noFill/>
        </p:spPr>
        <p:txBody>
          <a:bodyPr wrap="square">
            <a:spAutoFit/>
          </a:bodyPr>
          <a:lstStyle/>
          <a:p/>
          <a:p>
            <a:pPr>
              <a:spcAft>
                <a:spcPts val="400"/>
              </a:spcAft>
              <a:defRPr sz="1300">
                <a:solidFill>
                  <a:srgbClr val="8DA9C4"/>
                </a:solidFill>
                <a:latin typeface="Arial"/>
              </a:defRPr>
            </a:pPr>
            <a:r>
              <a:t>GitHub Repository: </a:t>
            </a:r>
            <a:r>
              <a:rPr b="1">
                <a:solidFill>
                  <a:srgbClr val="FFFFFF"/>
                </a:solidFill>
              </a:rPr>
              <a:t>github.com/innovators-guild/SkillBridge-AI</a:t>
            </a:r>
          </a:p>
          <a:p>
            <a:pPr>
              <a:spcAft>
                <a:spcPts val="400"/>
              </a:spcAft>
              <a:defRPr sz="1300">
                <a:solidFill>
                  <a:srgbClr val="8DA9C4"/>
                </a:solidFill>
                <a:latin typeface="Arial"/>
              </a:defRPr>
            </a:pPr>
            <a:r>
              <a:t>Live Web App Client: </a:t>
            </a:r>
            <a:r>
              <a:rPr b="1">
                <a:solidFill>
                  <a:srgbClr val="FFFFFF"/>
                </a:solidFill>
              </a:rPr>
              <a:t>skillbridge-ai.vercel.app</a:t>
            </a:r>
          </a:p>
          <a:p>
            <a:pPr>
              <a:spcAft>
                <a:spcPts val="400"/>
              </a:spcAft>
              <a:defRPr sz="1300">
                <a:solidFill>
                  <a:srgbClr val="8DA9C4"/>
                </a:solidFill>
                <a:latin typeface="Arial"/>
              </a:defRPr>
            </a:pPr>
            <a:r>
              <a:t>Contact Email: </a:t>
            </a:r>
            <a:r>
              <a:rPr b="1">
                <a:solidFill>
                  <a:srgbClr val="FFFFFF"/>
                </a:solidFill>
              </a:rPr>
              <a:t>contact@skillbridge.ai</a:t>
            </a:r>
          </a:p>
          <a:p>
            <a:pPr>
              <a:spcAft>
                <a:spcPts val="400"/>
              </a:spcAft>
              <a:defRPr sz="1300">
                <a:solidFill>
                  <a:srgbClr val="8DA9C4"/>
                </a:solidFill>
                <a:latin typeface="Arial"/>
              </a:defRPr>
            </a:pPr>
            <a:r>
              <a:t>Hackathon Hub: </a:t>
            </a:r>
            <a:r>
              <a:rPr b="1">
                <a:solidFill>
                  <a:srgbClr val="FFFFFF"/>
                </a:solidFill>
              </a:rPr>
              <a:t>skillbridge-ai-demo.render.com/api/v1/health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